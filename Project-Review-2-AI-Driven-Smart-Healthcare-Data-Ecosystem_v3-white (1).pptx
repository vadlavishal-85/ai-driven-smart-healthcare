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8732520" y="960120"/>
            <a:ext cx="164592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78440" y="960120"/>
            <a:ext cx="1097280" cy="9144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234440"/>
            <a:ext cx="868680" cy="9144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601200" y="960120"/>
            <a:ext cx="777240" cy="11887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8366760" y="2148840"/>
            <a:ext cx="1234440" cy="10058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2148840"/>
            <a:ext cx="1097280" cy="9144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3063240"/>
            <a:ext cx="960120" cy="11430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9464040" y="3063240"/>
            <a:ext cx="1234440" cy="10515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66760" y="3154680"/>
            <a:ext cx="1097280" cy="960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8778240" y="4114800"/>
            <a:ext cx="685800" cy="10972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64040" y="4114800"/>
            <a:ext cx="1051560" cy="1234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10515600" y="4206240"/>
            <a:ext cx="1143000" cy="11430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10698480" y="1874520"/>
            <a:ext cx="777240" cy="11887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58784" y="1060704"/>
            <a:ext cx="347472" cy="347472"/>
          </a:xfrm>
          <a:prstGeom prst="ellipse">
            <a:avLst/>
          </a:prstGeom>
          <a:solidFill>
            <a:srgbClr val="0D9488">
              <a:alpha val="22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8654796" y="1156716"/>
            <a:ext cx="155448" cy="15544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7" name="Shape 15"/>
          <p:cNvSpPr/>
          <p:nvPr/>
        </p:nvSpPr>
        <p:spPr>
          <a:xfrm>
            <a:off x="10204704" y="786384"/>
            <a:ext cx="347472" cy="347472"/>
          </a:xfrm>
          <a:prstGeom prst="ellipse">
            <a:avLst/>
          </a:prstGeom>
          <a:solidFill>
            <a:srgbClr val="0284C7">
              <a:alpha val="22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10300716" y="882396"/>
            <a:ext cx="155448" cy="155448"/>
          </a:xfrm>
          <a:prstGeom prst="ellipse">
            <a:avLst/>
          </a:prstGeom>
          <a:solidFill>
            <a:srgbClr val="0284C7"/>
          </a:solidFill>
        </p:spPr>
      </p:sp>
      <p:sp>
        <p:nvSpPr>
          <p:cNvPr id="19" name="Shape 17"/>
          <p:cNvSpPr/>
          <p:nvPr/>
        </p:nvSpPr>
        <p:spPr>
          <a:xfrm>
            <a:off x="11301984" y="1700784"/>
            <a:ext cx="347472" cy="347472"/>
          </a:xfrm>
          <a:prstGeom prst="ellipse">
            <a:avLst/>
          </a:prstGeom>
          <a:solidFill>
            <a:srgbClr val="6D28D9">
              <a:alpha val="22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11397996" y="1796796"/>
            <a:ext cx="155448" cy="155448"/>
          </a:xfrm>
          <a:prstGeom prst="ellipse">
            <a:avLst/>
          </a:prstGeom>
          <a:solidFill>
            <a:srgbClr val="6D28D9"/>
          </a:solidFill>
        </p:spPr>
      </p:sp>
      <p:sp>
        <p:nvSpPr>
          <p:cNvPr id="21" name="Shape 19"/>
          <p:cNvSpPr/>
          <p:nvPr/>
        </p:nvSpPr>
        <p:spPr>
          <a:xfrm>
            <a:off x="9427464" y="1975104"/>
            <a:ext cx="347472" cy="347472"/>
          </a:xfrm>
          <a:prstGeom prst="ellipse">
            <a:avLst/>
          </a:prstGeom>
          <a:solidFill>
            <a:srgbClr val="DB2777">
              <a:alpha val="22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9523476" y="2071116"/>
            <a:ext cx="155448" cy="155448"/>
          </a:xfrm>
          <a:prstGeom prst="ellipse">
            <a:avLst/>
          </a:prstGeom>
          <a:solidFill>
            <a:srgbClr val="DB2777"/>
          </a:solidFill>
        </p:spPr>
      </p:sp>
      <p:sp>
        <p:nvSpPr>
          <p:cNvPr id="23" name="Shape 21"/>
          <p:cNvSpPr/>
          <p:nvPr/>
        </p:nvSpPr>
        <p:spPr>
          <a:xfrm>
            <a:off x="8193024" y="2980944"/>
            <a:ext cx="347472" cy="347472"/>
          </a:xfrm>
          <a:prstGeom prst="ellipse">
            <a:avLst/>
          </a:prstGeom>
          <a:solidFill>
            <a:srgbClr val="B45309">
              <a:alpha val="22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8289036" y="3076956"/>
            <a:ext cx="155448" cy="155448"/>
          </a:xfrm>
          <a:prstGeom prst="ellipse">
            <a:avLst/>
          </a:prstGeom>
          <a:solidFill>
            <a:srgbClr val="B45309"/>
          </a:solidFill>
        </p:spPr>
      </p:sp>
      <p:sp>
        <p:nvSpPr>
          <p:cNvPr id="25" name="Shape 23"/>
          <p:cNvSpPr/>
          <p:nvPr/>
        </p:nvSpPr>
        <p:spPr>
          <a:xfrm>
            <a:off x="10524744" y="2889504"/>
            <a:ext cx="347472" cy="347472"/>
          </a:xfrm>
          <a:prstGeom prst="ellipse">
            <a:avLst/>
          </a:prstGeom>
          <a:solidFill>
            <a:srgbClr val="4D7C0F">
              <a:alpha val="22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10620756" y="2985516"/>
            <a:ext cx="155448" cy="155448"/>
          </a:xfrm>
          <a:prstGeom prst="ellipse">
            <a:avLst/>
          </a:prstGeom>
          <a:solidFill>
            <a:srgbClr val="4D7C0F"/>
          </a:solidFill>
        </p:spPr>
      </p:sp>
      <p:sp>
        <p:nvSpPr>
          <p:cNvPr id="27" name="Shape 25"/>
          <p:cNvSpPr/>
          <p:nvPr/>
        </p:nvSpPr>
        <p:spPr>
          <a:xfrm>
            <a:off x="11484864" y="4032504"/>
            <a:ext cx="347472" cy="347472"/>
          </a:xfrm>
          <a:prstGeom prst="ellipse">
            <a:avLst/>
          </a:prstGeom>
          <a:solidFill>
            <a:srgbClr val="0D9488">
              <a:alpha val="22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11580876" y="4128516"/>
            <a:ext cx="155448" cy="15544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9" name="Shape 27"/>
          <p:cNvSpPr/>
          <p:nvPr/>
        </p:nvSpPr>
        <p:spPr>
          <a:xfrm>
            <a:off x="9290304" y="3941064"/>
            <a:ext cx="347472" cy="347472"/>
          </a:xfrm>
          <a:prstGeom prst="ellipse">
            <a:avLst/>
          </a:prstGeom>
          <a:solidFill>
            <a:srgbClr val="0284C7">
              <a:alpha val="22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9386316" y="4037076"/>
            <a:ext cx="155448" cy="155448"/>
          </a:xfrm>
          <a:prstGeom prst="ellipse">
            <a:avLst/>
          </a:prstGeom>
          <a:solidFill>
            <a:srgbClr val="0284C7"/>
          </a:solidFill>
        </p:spPr>
      </p:sp>
      <p:sp>
        <p:nvSpPr>
          <p:cNvPr id="31" name="Shape 29"/>
          <p:cNvSpPr/>
          <p:nvPr/>
        </p:nvSpPr>
        <p:spPr>
          <a:xfrm>
            <a:off x="8604504" y="5038344"/>
            <a:ext cx="347472" cy="347472"/>
          </a:xfrm>
          <a:prstGeom prst="ellipse">
            <a:avLst/>
          </a:prstGeom>
          <a:solidFill>
            <a:srgbClr val="6D28D9">
              <a:alpha val="22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8700516" y="5134356"/>
            <a:ext cx="155448" cy="155448"/>
          </a:xfrm>
          <a:prstGeom prst="ellipse">
            <a:avLst/>
          </a:prstGeom>
          <a:solidFill>
            <a:srgbClr val="6D28D9"/>
          </a:solidFill>
        </p:spPr>
      </p:sp>
      <p:sp>
        <p:nvSpPr>
          <p:cNvPr id="33" name="Shape 31"/>
          <p:cNvSpPr/>
          <p:nvPr/>
        </p:nvSpPr>
        <p:spPr>
          <a:xfrm>
            <a:off x="10341864" y="5175504"/>
            <a:ext cx="347472" cy="347472"/>
          </a:xfrm>
          <a:prstGeom prst="ellipse">
            <a:avLst/>
          </a:prstGeom>
          <a:solidFill>
            <a:srgbClr val="DB2777">
              <a:alpha val="22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10437876" y="5271516"/>
            <a:ext cx="155448" cy="155448"/>
          </a:xfrm>
          <a:prstGeom prst="ellipse">
            <a:avLst/>
          </a:prstGeom>
          <a:solidFill>
            <a:srgbClr val="DB2777"/>
          </a:solidFill>
        </p:spPr>
      </p:sp>
      <p:sp>
        <p:nvSpPr>
          <p:cNvPr id="35" name="Shape 33"/>
          <p:cNvSpPr/>
          <p:nvPr/>
        </p:nvSpPr>
        <p:spPr>
          <a:xfrm>
            <a:off x="0" y="0"/>
            <a:ext cx="182880" cy="11430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6" name="Shape 34"/>
          <p:cNvSpPr/>
          <p:nvPr/>
        </p:nvSpPr>
        <p:spPr>
          <a:xfrm>
            <a:off x="0" y="1143000"/>
            <a:ext cx="182880" cy="114300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37" name="Shape 35"/>
          <p:cNvSpPr/>
          <p:nvPr/>
        </p:nvSpPr>
        <p:spPr>
          <a:xfrm>
            <a:off x="0" y="2286000"/>
            <a:ext cx="182880" cy="1143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38" name="Shape 36"/>
          <p:cNvSpPr/>
          <p:nvPr/>
        </p:nvSpPr>
        <p:spPr>
          <a:xfrm>
            <a:off x="0" y="3429000"/>
            <a:ext cx="182880" cy="1143000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39" name="Shape 37"/>
          <p:cNvSpPr/>
          <p:nvPr/>
        </p:nvSpPr>
        <p:spPr>
          <a:xfrm>
            <a:off x="0" y="4572000"/>
            <a:ext cx="182880" cy="1143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40" name="Shape 38"/>
          <p:cNvSpPr/>
          <p:nvPr/>
        </p:nvSpPr>
        <p:spPr>
          <a:xfrm>
            <a:off x="0" y="5715000"/>
            <a:ext cx="182880" cy="1143000"/>
          </a:xfrm>
          <a:prstGeom prst="rect">
            <a:avLst/>
          </a:prstGeom>
          <a:solidFill>
            <a:srgbClr val="4D7C0F"/>
          </a:solidFill>
        </p:spPr>
      </p:sp>
      <p:sp>
        <p:nvSpPr>
          <p:cNvPr id="41" name="Shape 39"/>
          <p:cNvSpPr/>
          <p:nvPr/>
        </p:nvSpPr>
        <p:spPr>
          <a:xfrm>
            <a:off x="182880" y="0"/>
            <a:ext cx="45720" cy="6858000"/>
          </a:xfrm>
          <a:prstGeom prst="rect">
            <a:avLst/>
          </a:prstGeom>
          <a:solidFill>
            <a:srgbClr val="E6EDF3"/>
          </a:solidFill>
        </p:spPr>
      </p:sp>
      <p:sp>
        <p:nvSpPr>
          <p:cNvPr id="42" name="Shape 40"/>
          <p:cNvSpPr/>
          <p:nvPr/>
        </p:nvSpPr>
        <p:spPr>
          <a:xfrm>
            <a:off x="7955280" y="182880"/>
            <a:ext cx="4663440" cy="3749040"/>
          </a:xfrm>
          <a:prstGeom prst="ellipse">
            <a:avLst/>
          </a:prstGeom>
          <a:solidFill>
            <a:srgbClr val="0D9488">
              <a:alpha val="1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8778240" y="2844800"/>
            <a:ext cx="3840480" cy="3291840"/>
          </a:xfrm>
          <a:prstGeom prst="ellipse">
            <a:avLst/>
          </a:prstGeom>
          <a:solidFill>
            <a:srgbClr val="6D28D9">
              <a:alpha val="1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640080" y="566928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L UNIVERSITY, HYDERABAD  •  PROJECT REVIEW 2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03504" y="1051560"/>
            <a:ext cx="758952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AI-Driven Smart Healthcare Data Exchange and Analytics Ecosystem</a:t>
            </a:r>
            <a:endParaRPr lang="en-US" sz="4000" dirty="0"/>
          </a:p>
        </p:txBody>
      </p:sp>
      <p:sp>
        <p:nvSpPr>
          <p:cNvPr id="46" name="Shape 44"/>
          <p:cNvSpPr/>
          <p:nvPr/>
        </p:nvSpPr>
        <p:spPr>
          <a:xfrm>
            <a:off x="640080" y="3063240"/>
            <a:ext cx="1371600" cy="41148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47" name="Text 45"/>
          <p:cNvSpPr/>
          <p:nvPr/>
        </p:nvSpPr>
        <p:spPr>
          <a:xfrm>
            <a:off x="603504" y="3246120"/>
            <a:ext cx="7589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Review – 2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03504" y="3611880"/>
            <a:ext cx="7589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Review, Critical Analysis &amp; Research Gap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603504" y="416052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D6FB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3504" y="4160520"/>
            <a:ext cx="64008" cy="169164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1" name="Text 49"/>
          <p:cNvSpPr/>
          <p:nvPr/>
        </p:nvSpPr>
        <p:spPr>
          <a:xfrm>
            <a:off x="841248" y="4297680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 •  GROUP [</a:t>
            </a:r>
            <a:r>
              <a:rPr lang="en-IN" altLang="en-US" sz="1200" b="1" kern="0" spc="15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r>
              <a:rPr lang="en-US" sz="1200" b="1" kern="0" spc="15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41248" y="4572000"/>
            <a:ext cx="33832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[</a:t>
            </a:r>
            <a:r>
              <a:rPr lang="en-IN" alt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VADLA VISHAL</a:t>
            </a: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 – [</a:t>
            </a:r>
            <a:r>
              <a:rPr lang="en-IN" alt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2510080031</a:t>
            </a: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[</a:t>
            </a:r>
            <a:r>
              <a:rPr lang="en-IN" alt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Singam Tejaswini</a:t>
            </a: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 – [</a:t>
            </a:r>
            <a:r>
              <a:rPr lang="en-IN" alt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2510080049</a:t>
            </a: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[</a:t>
            </a:r>
            <a:r>
              <a:rPr lang="en-IN" alt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Shirisha</a:t>
            </a: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 – [</a:t>
            </a:r>
            <a:r>
              <a:rPr lang="en-IN" alt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2510080017</a:t>
            </a: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[</a:t>
            </a:r>
            <a:r>
              <a:rPr lang="en-IN" alt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Krishna Vamshi</a:t>
            </a: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 – [</a:t>
            </a:r>
            <a:r>
              <a:rPr lang="en-IN" alt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2510080034</a:t>
            </a: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526280" y="416052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26280" y="4160520"/>
            <a:ext cx="64008" cy="169164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55" name="Text 53"/>
          <p:cNvSpPr/>
          <p:nvPr/>
        </p:nvSpPr>
        <p:spPr>
          <a:xfrm>
            <a:off x="4764024" y="429768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764024" y="4572000"/>
            <a:ext cx="3291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IN" altLang="en-US" sz="16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Dr.Laiphangbam Melinda</a:t>
            </a:r>
            <a:r>
              <a:rPr lang="en-US" sz="16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764024" y="4919472"/>
            <a:ext cx="32918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Artificial Intelligence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Data Science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Year 2026–27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/ 15</a:t>
            </a:r>
            <a:endParaRPr lang="en-US" sz="1100" dirty="0"/>
          </a:p>
        </p:txBody>
      </p:sp>
      <p:pic>
        <p:nvPicPr>
          <p:cNvPr id="60" name="Picture 59"/>
          <p:cNvPicPr/>
          <p:nvPr/>
        </p:nvPicPr>
        <p:blipFill>
          <a:blip r:embed="rId1"/>
          <a:srcRect b="36513"/>
          <a:stretch>
            <a:fillRect/>
          </a:stretch>
        </p:blipFill>
        <p:spPr>
          <a:xfrm>
            <a:off x="9610725" y="0"/>
            <a:ext cx="2580640" cy="7861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11430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55448" cy="114300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4" name="Shape 2"/>
          <p:cNvSpPr/>
          <p:nvPr/>
        </p:nvSpPr>
        <p:spPr>
          <a:xfrm>
            <a:off x="0" y="2286000"/>
            <a:ext cx="155448" cy="1143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5" name="Shape 3"/>
          <p:cNvSpPr/>
          <p:nvPr/>
        </p:nvSpPr>
        <p:spPr>
          <a:xfrm>
            <a:off x="0" y="3429000"/>
            <a:ext cx="155448" cy="1143000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6" name="Shape 4"/>
          <p:cNvSpPr/>
          <p:nvPr/>
        </p:nvSpPr>
        <p:spPr>
          <a:xfrm>
            <a:off x="0" y="4572000"/>
            <a:ext cx="155448" cy="1143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7" name="Shape 5"/>
          <p:cNvSpPr/>
          <p:nvPr/>
        </p:nvSpPr>
        <p:spPr>
          <a:xfrm>
            <a:off x="0" y="5715000"/>
            <a:ext cx="155448" cy="1143000"/>
          </a:xfrm>
          <a:prstGeom prst="rect">
            <a:avLst/>
          </a:prstGeom>
          <a:solidFill>
            <a:srgbClr val="4D7C0F"/>
          </a:solidFill>
        </p:spPr>
      </p:sp>
      <p:sp>
        <p:nvSpPr>
          <p:cNvPr id="8" name="Shape 6"/>
          <p:cNvSpPr/>
          <p:nvPr/>
        </p:nvSpPr>
        <p:spPr>
          <a:xfrm>
            <a:off x="155448" y="0"/>
            <a:ext cx="45720" cy="6858000"/>
          </a:xfrm>
          <a:prstGeom prst="rect">
            <a:avLst/>
          </a:prstGeom>
          <a:solidFill>
            <a:srgbClr val="E6EDF3"/>
          </a:solidFill>
        </p:spPr>
      </p:sp>
      <p:sp>
        <p:nvSpPr>
          <p:cNvPr id="9" name="Shape 7"/>
          <p:cNvSpPr/>
          <p:nvPr/>
        </p:nvSpPr>
        <p:spPr>
          <a:xfrm>
            <a:off x="9052560" y="-1965960"/>
            <a:ext cx="4754880" cy="3931920"/>
          </a:xfrm>
          <a:prstGeom prst="ellipse">
            <a:avLst/>
          </a:prstGeom>
          <a:solidFill>
            <a:srgbClr val="0D9488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0149840" y="-1371600"/>
            <a:ext cx="2743200" cy="2377440"/>
          </a:xfrm>
          <a:prstGeom prst="ellipse">
            <a:avLst/>
          </a:prstGeom>
          <a:solidFill>
            <a:srgbClr val="0D9488">
              <a:alpha val="1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48640" y="329184"/>
            <a:ext cx="1421892" cy="384048"/>
          </a:xfrm>
          <a:prstGeom prst="roundRect">
            <a:avLst>
              <a:gd name="adj" fmla="val 50000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"/>
            <a:ext cx="14218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786384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Literature Review – Six Research Themes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4672584" y="2880360"/>
            <a:ext cx="2834640" cy="201168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2880360"/>
            <a:ext cx="265176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SMART HEALTHCARE</a:t>
            </a:r>
            <a:endParaRPr lang="en-US" sz="18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 ECOSYSTEM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" y="1572768"/>
            <a:ext cx="3017520" cy="1298448"/>
          </a:xfrm>
          <a:prstGeom prst="roundRect">
            <a:avLst>
              <a:gd name="adj" fmla="val 5634"/>
            </a:avLst>
          </a:prstGeom>
          <a:solidFill>
            <a:srgbClr val="D6FB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572768"/>
            <a:ext cx="91440" cy="129844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8" name="Text 16"/>
          <p:cNvSpPr/>
          <p:nvPr/>
        </p:nvSpPr>
        <p:spPr>
          <a:xfrm>
            <a:off x="804672" y="1700784"/>
            <a:ext cx="640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" y="2029968"/>
            <a:ext cx="2606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 Interoperability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Data Exchange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584448" y="2221992"/>
            <a:ext cx="1133856" cy="166420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0440" y="2157984"/>
            <a:ext cx="128016" cy="128016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2" name="Shape 20"/>
          <p:cNvSpPr/>
          <p:nvPr/>
        </p:nvSpPr>
        <p:spPr>
          <a:xfrm>
            <a:off x="566928" y="3127248"/>
            <a:ext cx="3017520" cy="1298448"/>
          </a:xfrm>
          <a:prstGeom prst="roundRect">
            <a:avLst>
              <a:gd name="adj" fmla="val 5634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127248"/>
            <a:ext cx="91440" cy="1298448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24" name="Text 22"/>
          <p:cNvSpPr/>
          <p:nvPr/>
        </p:nvSpPr>
        <p:spPr>
          <a:xfrm>
            <a:off x="804672" y="3255264"/>
            <a:ext cx="640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4C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3584448"/>
            <a:ext cx="2606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 Data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Management &amp; EHR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584448" y="3776472"/>
            <a:ext cx="1133856" cy="10972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3712464"/>
            <a:ext cx="128016" cy="128016"/>
          </a:xfrm>
          <a:prstGeom prst="ellipse">
            <a:avLst/>
          </a:prstGeom>
          <a:solidFill>
            <a:srgbClr val="0284C7"/>
          </a:solidFill>
        </p:spPr>
      </p:sp>
      <p:sp>
        <p:nvSpPr>
          <p:cNvPr id="28" name="Shape 26"/>
          <p:cNvSpPr/>
          <p:nvPr/>
        </p:nvSpPr>
        <p:spPr>
          <a:xfrm>
            <a:off x="566928" y="4681728"/>
            <a:ext cx="3017520" cy="1298448"/>
          </a:xfrm>
          <a:prstGeom prst="roundRect">
            <a:avLst>
              <a:gd name="adj" fmla="val 5634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681728"/>
            <a:ext cx="91440" cy="1298448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30" name="Text 28"/>
          <p:cNvSpPr/>
          <p:nvPr/>
        </p:nvSpPr>
        <p:spPr>
          <a:xfrm>
            <a:off x="804672" y="4809744"/>
            <a:ext cx="640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8D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4672" y="5138928"/>
            <a:ext cx="2606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/ ML Healthcare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 flipH="1">
            <a:off x="3584448" y="3886200"/>
            <a:ext cx="1133856" cy="144475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0440" y="5266944"/>
            <a:ext cx="128016" cy="128016"/>
          </a:xfrm>
          <a:prstGeom prst="ellipse">
            <a:avLst/>
          </a:prstGeom>
          <a:solidFill>
            <a:srgbClr val="6D28D9"/>
          </a:solidFill>
        </p:spPr>
      </p:sp>
      <p:sp>
        <p:nvSpPr>
          <p:cNvPr id="34" name="Shape 32"/>
          <p:cNvSpPr/>
          <p:nvPr/>
        </p:nvSpPr>
        <p:spPr>
          <a:xfrm>
            <a:off x="8595360" y="1572768"/>
            <a:ext cx="3017520" cy="1298448"/>
          </a:xfrm>
          <a:prstGeom prst="roundRect">
            <a:avLst>
              <a:gd name="adj" fmla="val 5634"/>
            </a:avLst>
          </a:prstGeom>
          <a:solidFill>
            <a:srgbClr val="FFE4EA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95360" y="1572768"/>
            <a:ext cx="91440" cy="1298448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36" name="Text 34"/>
          <p:cNvSpPr/>
          <p:nvPr/>
        </p:nvSpPr>
        <p:spPr>
          <a:xfrm>
            <a:off x="8833104" y="1700784"/>
            <a:ext cx="640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B277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33104" y="2029968"/>
            <a:ext cx="2606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&amp; Privacy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 flipH="1">
            <a:off x="7461504" y="2221992"/>
            <a:ext cx="1133856" cy="166420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31352" y="2157984"/>
            <a:ext cx="128016" cy="128016"/>
          </a:xfrm>
          <a:prstGeom prst="ellipse">
            <a:avLst/>
          </a:prstGeom>
          <a:solidFill>
            <a:srgbClr val="DB2777"/>
          </a:solidFill>
        </p:spPr>
      </p:sp>
      <p:sp>
        <p:nvSpPr>
          <p:cNvPr id="40" name="Shape 38"/>
          <p:cNvSpPr/>
          <p:nvPr/>
        </p:nvSpPr>
        <p:spPr>
          <a:xfrm>
            <a:off x="8595360" y="3127248"/>
            <a:ext cx="3017520" cy="1298448"/>
          </a:xfrm>
          <a:prstGeom prst="roundRect">
            <a:avLst>
              <a:gd name="adj" fmla="val 5634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95360" y="3127248"/>
            <a:ext cx="91440" cy="1298448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42" name="Text 40"/>
          <p:cNvSpPr/>
          <p:nvPr/>
        </p:nvSpPr>
        <p:spPr>
          <a:xfrm>
            <a:off x="8833104" y="3255264"/>
            <a:ext cx="640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833104" y="3584448"/>
            <a:ext cx="2606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APIs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Architecture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 flipH="1">
            <a:off x="7461504" y="3776472"/>
            <a:ext cx="1133856" cy="10972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31352" y="3712464"/>
            <a:ext cx="128016" cy="128016"/>
          </a:xfrm>
          <a:prstGeom prst="ellipse">
            <a:avLst/>
          </a:prstGeom>
          <a:solidFill>
            <a:srgbClr val="B45309"/>
          </a:solidFill>
        </p:spPr>
      </p:sp>
      <p:sp>
        <p:nvSpPr>
          <p:cNvPr id="46" name="Shape 44"/>
          <p:cNvSpPr/>
          <p:nvPr/>
        </p:nvSpPr>
        <p:spPr>
          <a:xfrm>
            <a:off x="8595360" y="4681728"/>
            <a:ext cx="3017520" cy="1298448"/>
          </a:xfrm>
          <a:prstGeom prst="roundRect">
            <a:avLst>
              <a:gd name="adj" fmla="val 5634"/>
            </a:avLst>
          </a:prstGeom>
          <a:solidFill>
            <a:srgbClr val="EDFCCB"/>
          </a:solidFill>
          <a:ln w="12700">
            <a:solidFill>
              <a:srgbClr val="4D7C0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95360" y="4681728"/>
            <a:ext cx="91440" cy="1298448"/>
          </a:xfrm>
          <a:prstGeom prst="rect">
            <a:avLst/>
          </a:prstGeom>
          <a:solidFill>
            <a:srgbClr val="4D7C0F"/>
          </a:solidFill>
        </p:spPr>
      </p:sp>
      <p:sp>
        <p:nvSpPr>
          <p:cNvPr id="48" name="Text 46"/>
          <p:cNvSpPr/>
          <p:nvPr/>
        </p:nvSpPr>
        <p:spPr>
          <a:xfrm>
            <a:off x="8833104" y="4809744"/>
            <a:ext cx="640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7C0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833104" y="5138928"/>
            <a:ext cx="2606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Deployment, Testing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Scalability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7461504" y="3886200"/>
            <a:ext cx="1133856" cy="144475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31352" y="5266944"/>
            <a:ext cx="128016" cy="128016"/>
          </a:xfrm>
          <a:prstGeom prst="ellipse">
            <a:avLst/>
          </a:prstGeom>
          <a:solidFill>
            <a:srgbClr val="4D7C0F"/>
          </a:solidFill>
        </p:spPr>
      </p:sp>
      <p:sp>
        <p:nvSpPr>
          <p:cNvPr id="52" name="Text 50"/>
          <p:cNvSpPr/>
          <p:nvPr/>
        </p:nvSpPr>
        <p:spPr>
          <a:xfrm>
            <a:off x="502920" y="6355080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Smart Healthcare Data Exchange and Analytics Ecosystem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/ 15</a:t>
            </a:r>
            <a:endParaRPr lang="en-US" sz="1100" dirty="0"/>
          </a:p>
        </p:txBody>
      </p:sp>
      <p:pic>
        <p:nvPicPr>
          <p:cNvPr id="60" name="Picture 59"/>
          <p:cNvPicPr/>
          <p:nvPr/>
        </p:nvPicPr>
        <p:blipFill>
          <a:blip r:embed="rId1"/>
          <a:srcRect b="36513"/>
          <a:stretch>
            <a:fillRect/>
          </a:stretch>
        </p:blipFill>
        <p:spPr>
          <a:xfrm>
            <a:off x="9610725" y="0"/>
            <a:ext cx="2580640" cy="7861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11430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55448" cy="114300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4" name="Shape 2"/>
          <p:cNvSpPr/>
          <p:nvPr/>
        </p:nvSpPr>
        <p:spPr>
          <a:xfrm>
            <a:off x="0" y="2286000"/>
            <a:ext cx="155448" cy="1143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5" name="Shape 3"/>
          <p:cNvSpPr/>
          <p:nvPr/>
        </p:nvSpPr>
        <p:spPr>
          <a:xfrm>
            <a:off x="0" y="3429000"/>
            <a:ext cx="155448" cy="1143000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6" name="Shape 4"/>
          <p:cNvSpPr/>
          <p:nvPr/>
        </p:nvSpPr>
        <p:spPr>
          <a:xfrm>
            <a:off x="0" y="4572000"/>
            <a:ext cx="155448" cy="1143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7" name="Shape 5"/>
          <p:cNvSpPr/>
          <p:nvPr/>
        </p:nvSpPr>
        <p:spPr>
          <a:xfrm>
            <a:off x="0" y="5715000"/>
            <a:ext cx="155448" cy="1143000"/>
          </a:xfrm>
          <a:prstGeom prst="rect">
            <a:avLst/>
          </a:prstGeom>
          <a:solidFill>
            <a:srgbClr val="4D7C0F"/>
          </a:solidFill>
        </p:spPr>
      </p:sp>
      <p:sp>
        <p:nvSpPr>
          <p:cNvPr id="8" name="Shape 6"/>
          <p:cNvSpPr/>
          <p:nvPr/>
        </p:nvSpPr>
        <p:spPr>
          <a:xfrm>
            <a:off x="155448" y="0"/>
            <a:ext cx="45720" cy="6858000"/>
          </a:xfrm>
          <a:prstGeom prst="rect">
            <a:avLst/>
          </a:prstGeom>
          <a:solidFill>
            <a:srgbClr val="E6EDF3"/>
          </a:solidFill>
        </p:spPr>
      </p:sp>
      <p:sp>
        <p:nvSpPr>
          <p:cNvPr id="9" name="Shape 7"/>
          <p:cNvSpPr/>
          <p:nvPr/>
        </p:nvSpPr>
        <p:spPr>
          <a:xfrm>
            <a:off x="9052560" y="-1965960"/>
            <a:ext cx="4754880" cy="3931920"/>
          </a:xfrm>
          <a:prstGeom prst="ellipse">
            <a:avLst/>
          </a:prstGeom>
          <a:solidFill>
            <a:srgbClr val="0D9488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0149840" y="-1371600"/>
            <a:ext cx="2743200" cy="2377440"/>
          </a:xfrm>
          <a:prstGeom prst="ellipse">
            <a:avLst/>
          </a:prstGeom>
          <a:solidFill>
            <a:srgbClr val="0D9488">
              <a:alpha val="1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48640" y="329184"/>
            <a:ext cx="1175004" cy="384048"/>
          </a:xfrm>
          <a:prstGeom prst="roundRect">
            <a:avLst>
              <a:gd name="adj" fmla="val 50000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"/>
            <a:ext cx="11750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786384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Healthcare Interoperability &amp; Data Exchange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66928" y="1389888"/>
            <a:ext cx="11064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can healthcare systems exchange information across different platforms?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1828800"/>
            <a:ext cx="5504688" cy="914400"/>
          </a:xfrm>
          <a:prstGeom prst="roundRect">
            <a:avLst>
              <a:gd name="adj" fmla="val 8000"/>
            </a:avLst>
          </a:prstGeom>
          <a:solidFill>
            <a:srgbClr val="D6FB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828800"/>
            <a:ext cx="91440" cy="9144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Text 15"/>
          <p:cNvSpPr/>
          <p:nvPr/>
        </p:nvSpPr>
        <p:spPr>
          <a:xfrm>
            <a:off x="804672" y="1938528"/>
            <a:ext cx="5120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Torab-Miandoab et al. (2023)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4672" y="2267712"/>
            <a:ext cx="5120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Analyzed healthcare interoperability challenges.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35624" y="1828800"/>
            <a:ext cx="5504688" cy="9144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35624" y="1828800"/>
            <a:ext cx="91440" cy="91440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21" name="Text 19"/>
          <p:cNvSpPr/>
          <p:nvPr/>
        </p:nvSpPr>
        <p:spPr>
          <a:xfrm>
            <a:off x="6391656" y="1938528"/>
            <a:ext cx="5120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Ayaz et al. (2021)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91656" y="2267712"/>
            <a:ext cx="5120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Examined FHIR-based healthcare interoperability.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FFE4EA"/>
          </a:solidFill>
          <a:ln w="15875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182112"/>
            <a:ext cx="2286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" y="3639312"/>
            <a:ext cx="2331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Heterogeneous systems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data formats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182112" y="3017520"/>
            <a:ext cx="27432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A6B8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438144" y="301752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E0F2FE"/>
          </a:solidFill>
          <a:ln w="15875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9312" y="3182112"/>
            <a:ext cx="2286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APPROACH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39312" y="3639312"/>
            <a:ext cx="2331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FHIR standardized resources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API-oriented exchange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071616" y="3017520"/>
            <a:ext cx="27432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A6B8"/>
                </a:solidFill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327648" y="301752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FEF3C7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8816" y="3182112"/>
            <a:ext cx="2286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28816" y="3639312"/>
            <a:ext cx="2331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Legacy systems and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semantic differences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961120" y="3017520"/>
            <a:ext cx="27432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A6B8"/>
                </a:solidFill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9217152" y="301752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0" y="3182112"/>
            <a:ext cx="2286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RESPONSE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418320" y="3639312"/>
            <a:ext cx="2331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APIs + secure access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structured &amp; flexible data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48640" y="4956048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047488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INSIGHT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2960" y="5303520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“Standards improve exchange, but interoperability requires more than simply connecting systems.”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02920" y="6355080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Smart Healthcare Data Exchange and Analytics Ecosystem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/ 15</a:t>
            </a:r>
            <a:endParaRPr lang="en-US" sz="1100" dirty="0"/>
          </a:p>
        </p:txBody>
      </p:sp>
      <p:pic>
        <p:nvPicPr>
          <p:cNvPr id="60" name="Picture 59"/>
          <p:cNvPicPr/>
          <p:nvPr/>
        </p:nvPicPr>
        <p:blipFill>
          <a:blip r:embed="rId1"/>
          <a:srcRect b="36513"/>
          <a:stretch>
            <a:fillRect/>
          </a:stretch>
        </p:blipFill>
        <p:spPr>
          <a:xfrm>
            <a:off x="9610725" y="21590"/>
            <a:ext cx="2580640" cy="7861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11430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55448" cy="114300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4" name="Shape 2"/>
          <p:cNvSpPr/>
          <p:nvPr/>
        </p:nvSpPr>
        <p:spPr>
          <a:xfrm>
            <a:off x="0" y="2286000"/>
            <a:ext cx="155448" cy="1143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5" name="Shape 3"/>
          <p:cNvSpPr/>
          <p:nvPr/>
        </p:nvSpPr>
        <p:spPr>
          <a:xfrm>
            <a:off x="0" y="3429000"/>
            <a:ext cx="155448" cy="1143000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6" name="Shape 4"/>
          <p:cNvSpPr/>
          <p:nvPr/>
        </p:nvSpPr>
        <p:spPr>
          <a:xfrm>
            <a:off x="0" y="4572000"/>
            <a:ext cx="155448" cy="1143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7" name="Shape 5"/>
          <p:cNvSpPr/>
          <p:nvPr/>
        </p:nvSpPr>
        <p:spPr>
          <a:xfrm>
            <a:off x="0" y="5715000"/>
            <a:ext cx="155448" cy="1143000"/>
          </a:xfrm>
          <a:prstGeom prst="rect">
            <a:avLst/>
          </a:prstGeom>
          <a:solidFill>
            <a:srgbClr val="4D7C0F"/>
          </a:solidFill>
        </p:spPr>
      </p:sp>
      <p:sp>
        <p:nvSpPr>
          <p:cNvPr id="8" name="Shape 6"/>
          <p:cNvSpPr/>
          <p:nvPr/>
        </p:nvSpPr>
        <p:spPr>
          <a:xfrm>
            <a:off x="155448" y="0"/>
            <a:ext cx="45720" cy="6858000"/>
          </a:xfrm>
          <a:prstGeom prst="rect">
            <a:avLst/>
          </a:prstGeom>
          <a:solidFill>
            <a:srgbClr val="E6EDF3"/>
          </a:solidFill>
        </p:spPr>
      </p:sp>
      <p:sp>
        <p:nvSpPr>
          <p:cNvPr id="9" name="Shape 7"/>
          <p:cNvSpPr/>
          <p:nvPr/>
        </p:nvSpPr>
        <p:spPr>
          <a:xfrm>
            <a:off x="9052560" y="-1965960"/>
            <a:ext cx="4754880" cy="3931920"/>
          </a:xfrm>
          <a:prstGeom prst="ellipse">
            <a:avLst/>
          </a:prstGeom>
          <a:solidFill>
            <a:srgbClr val="0284C7">
              <a:alpha val="1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48640" y="329184"/>
            <a:ext cx="1175004" cy="38404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5875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"/>
            <a:ext cx="11750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786384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Healthcare Data Management &amp; EHR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66928" y="1389888"/>
            <a:ext cx="11064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should heterogeneous healthcare data be stored?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18288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828800"/>
            <a:ext cx="91440" cy="841248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17" name="Text 15"/>
          <p:cNvSpPr/>
          <p:nvPr/>
        </p:nvSpPr>
        <p:spPr>
          <a:xfrm>
            <a:off x="804672" y="1920240"/>
            <a:ext cx="30175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Gamal et al. (2021)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4672" y="2249424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Studied standardized EHR data modeling and persistence — healthcare data is heterogeneous and standardization improves consistency.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5504688" cy="2286000"/>
          </a:xfrm>
          <a:prstGeom prst="roundRect">
            <a:avLst>
              <a:gd name="adj" fmla="val 3200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962656"/>
            <a:ext cx="3657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DATA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" y="338328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D6FB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383280"/>
            <a:ext cx="15727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496312" y="338328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D6FB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96312" y="3383280"/>
            <a:ext cx="15727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Doctors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87952" y="338328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D6FB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87952" y="3383280"/>
            <a:ext cx="15727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397764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MySQL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04672" y="4389120"/>
            <a:ext cx="49377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Relationships + transactions;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 flexible schema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35624" y="2834640"/>
            <a:ext cx="5504688" cy="2286000"/>
          </a:xfrm>
          <a:prstGeom prst="roundRect">
            <a:avLst>
              <a:gd name="adj" fmla="val 3200"/>
            </a:avLst>
          </a:prstGeom>
          <a:solidFill>
            <a:srgbClr val="FEF3C7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1656" y="2962656"/>
            <a:ext cx="3657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FLEXIBLE DATA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91656" y="338328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1656" y="3383280"/>
            <a:ext cx="15727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Medical Reports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083296" y="338328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83296" y="3383280"/>
            <a:ext cx="15727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Prescriptions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774936" y="338328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74936" y="3383280"/>
            <a:ext cx="15727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Doctor Notes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91656" y="397764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MongoDB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391656" y="4389120"/>
            <a:ext cx="49377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Flexible documents; complex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relationships can be harder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48640" y="532180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321808"/>
            <a:ext cx="10515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“No single database model is ideal for every healthcare data type.”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502920" y="6355080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Smart Healthcare Data Exchange and Analytics Ecosystem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/ 15</a:t>
            </a:r>
            <a:endParaRPr lang="en-US" sz="1100" dirty="0"/>
          </a:p>
        </p:txBody>
      </p:sp>
      <p:pic>
        <p:nvPicPr>
          <p:cNvPr id="60" name="Picture 59"/>
          <p:cNvPicPr/>
          <p:nvPr/>
        </p:nvPicPr>
        <p:blipFill>
          <a:blip r:embed="rId1"/>
          <a:srcRect b="36513"/>
          <a:stretch>
            <a:fillRect/>
          </a:stretch>
        </p:blipFill>
        <p:spPr>
          <a:xfrm>
            <a:off x="9610725" y="0"/>
            <a:ext cx="2580640" cy="7861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11430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55448" cy="114300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4" name="Shape 2"/>
          <p:cNvSpPr/>
          <p:nvPr/>
        </p:nvSpPr>
        <p:spPr>
          <a:xfrm>
            <a:off x="0" y="2286000"/>
            <a:ext cx="155448" cy="1143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5" name="Shape 3"/>
          <p:cNvSpPr/>
          <p:nvPr/>
        </p:nvSpPr>
        <p:spPr>
          <a:xfrm>
            <a:off x="0" y="3429000"/>
            <a:ext cx="155448" cy="1143000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6" name="Shape 4"/>
          <p:cNvSpPr/>
          <p:nvPr/>
        </p:nvSpPr>
        <p:spPr>
          <a:xfrm>
            <a:off x="0" y="4572000"/>
            <a:ext cx="155448" cy="1143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7" name="Shape 5"/>
          <p:cNvSpPr/>
          <p:nvPr/>
        </p:nvSpPr>
        <p:spPr>
          <a:xfrm>
            <a:off x="0" y="5715000"/>
            <a:ext cx="155448" cy="1143000"/>
          </a:xfrm>
          <a:prstGeom prst="rect">
            <a:avLst/>
          </a:prstGeom>
          <a:solidFill>
            <a:srgbClr val="4D7C0F"/>
          </a:solidFill>
        </p:spPr>
      </p:sp>
      <p:sp>
        <p:nvSpPr>
          <p:cNvPr id="8" name="Shape 6"/>
          <p:cNvSpPr/>
          <p:nvPr/>
        </p:nvSpPr>
        <p:spPr>
          <a:xfrm>
            <a:off x="155448" y="0"/>
            <a:ext cx="45720" cy="6858000"/>
          </a:xfrm>
          <a:prstGeom prst="rect">
            <a:avLst/>
          </a:prstGeom>
          <a:solidFill>
            <a:srgbClr val="E6EDF3"/>
          </a:solidFill>
        </p:spPr>
      </p:sp>
      <p:sp>
        <p:nvSpPr>
          <p:cNvPr id="9" name="Shape 7"/>
          <p:cNvSpPr/>
          <p:nvPr/>
        </p:nvSpPr>
        <p:spPr>
          <a:xfrm>
            <a:off x="9052560" y="-1965960"/>
            <a:ext cx="4754880" cy="3931920"/>
          </a:xfrm>
          <a:prstGeom prst="ellipse">
            <a:avLst/>
          </a:prstGeom>
          <a:solidFill>
            <a:srgbClr val="6D28D9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0149840" y="-1371600"/>
            <a:ext cx="2743200" cy="2377440"/>
          </a:xfrm>
          <a:prstGeom prst="ellipse">
            <a:avLst/>
          </a:prstGeom>
          <a:solidFill>
            <a:srgbClr val="6D28D9">
              <a:alpha val="1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48640" y="329184"/>
            <a:ext cx="1175004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5875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"/>
            <a:ext cx="11750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6D28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786384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 / ML Healthcare Analytics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66928" y="1389888"/>
            <a:ext cx="11064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can healthcare data be transformed into useful intelligence?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1828800"/>
            <a:ext cx="5504688" cy="1371600"/>
          </a:xfrm>
          <a:prstGeom prst="roundRect">
            <a:avLst>
              <a:gd name="adj" fmla="val 5333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828800"/>
            <a:ext cx="91440" cy="13716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17" name="Text 15"/>
          <p:cNvSpPr/>
          <p:nvPr/>
        </p:nvSpPr>
        <p:spPr>
          <a:xfrm>
            <a:off x="804672" y="1956816"/>
            <a:ext cx="5029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Rajkomar et al. (2018)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4672" y="2286000"/>
            <a:ext cx="5029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on large-scale EHR data.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2633472"/>
            <a:ext cx="5029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Focus: clinical outcome prediction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35624" y="1828800"/>
            <a:ext cx="5504688" cy="1371600"/>
          </a:xfrm>
          <a:prstGeom prst="roundRect">
            <a:avLst>
              <a:gd name="adj" fmla="val 5333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35624" y="1828800"/>
            <a:ext cx="91440" cy="137160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22" name="Text 20"/>
          <p:cNvSpPr/>
          <p:nvPr/>
        </p:nvSpPr>
        <p:spPr>
          <a:xfrm>
            <a:off x="6391656" y="1956816"/>
            <a:ext cx="5029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Miotto et al. (2018)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91656" y="2286000"/>
            <a:ext cx="5029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Representation learning from EHR data.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91656" y="2633472"/>
            <a:ext cx="5029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Focus: automatic patient patterns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64992"/>
            <a:ext cx="550468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493008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D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STRENGTH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3822192"/>
            <a:ext cx="4937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can discover patterns from complex healthcare records.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135624" y="3364992"/>
            <a:ext cx="550468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1656" y="3493008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91656" y="384048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C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91656" y="3840480"/>
            <a:ext cx="23317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906256" y="384048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CE7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06256" y="3840480"/>
            <a:ext cx="23317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Interpretability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91656" y="434340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CE7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91656" y="4343400"/>
            <a:ext cx="23317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Privacy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906256" y="434340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CE7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06256" y="4343400"/>
            <a:ext cx="23317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validation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513892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138928"/>
            <a:ext cx="10515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“High predictive performance alone does not make an AI healthcare system clinically useful.”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02920" y="6355080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Smart Healthcare Data Exchange and Analytics Ecosystem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/ 15</a:t>
            </a:r>
            <a:endParaRPr lang="en-US" sz="1100" dirty="0"/>
          </a:p>
        </p:txBody>
      </p:sp>
      <p:pic>
        <p:nvPicPr>
          <p:cNvPr id="60" name="Picture 59"/>
          <p:cNvPicPr/>
          <p:nvPr/>
        </p:nvPicPr>
        <p:blipFill>
          <a:blip r:embed="rId1"/>
          <a:srcRect b="36513"/>
          <a:stretch>
            <a:fillRect/>
          </a:stretch>
        </p:blipFill>
        <p:spPr>
          <a:xfrm>
            <a:off x="9610725" y="0"/>
            <a:ext cx="2580640" cy="7861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11430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55448" cy="114300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4" name="Shape 2"/>
          <p:cNvSpPr/>
          <p:nvPr/>
        </p:nvSpPr>
        <p:spPr>
          <a:xfrm>
            <a:off x="0" y="2286000"/>
            <a:ext cx="155448" cy="1143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5" name="Shape 3"/>
          <p:cNvSpPr/>
          <p:nvPr/>
        </p:nvSpPr>
        <p:spPr>
          <a:xfrm>
            <a:off x="0" y="3429000"/>
            <a:ext cx="155448" cy="1143000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6" name="Shape 4"/>
          <p:cNvSpPr/>
          <p:nvPr/>
        </p:nvSpPr>
        <p:spPr>
          <a:xfrm>
            <a:off x="0" y="4572000"/>
            <a:ext cx="155448" cy="1143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7" name="Shape 5"/>
          <p:cNvSpPr/>
          <p:nvPr/>
        </p:nvSpPr>
        <p:spPr>
          <a:xfrm>
            <a:off x="0" y="5715000"/>
            <a:ext cx="155448" cy="1143000"/>
          </a:xfrm>
          <a:prstGeom prst="rect">
            <a:avLst/>
          </a:prstGeom>
          <a:solidFill>
            <a:srgbClr val="4D7C0F"/>
          </a:solidFill>
        </p:spPr>
      </p:sp>
      <p:sp>
        <p:nvSpPr>
          <p:cNvPr id="8" name="Shape 6"/>
          <p:cNvSpPr/>
          <p:nvPr/>
        </p:nvSpPr>
        <p:spPr>
          <a:xfrm>
            <a:off x="155448" y="0"/>
            <a:ext cx="45720" cy="6858000"/>
          </a:xfrm>
          <a:prstGeom prst="rect">
            <a:avLst/>
          </a:prstGeom>
          <a:solidFill>
            <a:srgbClr val="E6EDF3"/>
          </a:solidFill>
        </p:spPr>
      </p:sp>
      <p:sp>
        <p:nvSpPr>
          <p:cNvPr id="9" name="Shape 7"/>
          <p:cNvSpPr/>
          <p:nvPr/>
        </p:nvSpPr>
        <p:spPr>
          <a:xfrm>
            <a:off x="9052560" y="-1965960"/>
            <a:ext cx="4754880" cy="3931920"/>
          </a:xfrm>
          <a:prstGeom prst="ellipse">
            <a:avLst/>
          </a:prstGeom>
          <a:solidFill>
            <a:srgbClr val="DB2777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0149840" y="-1371600"/>
            <a:ext cx="2743200" cy="2377440"/>
          </a:xfrm>
          <a:prstGeom prst="ellipse">
            <a:avLst/>
          </a:prstGeom>
          <a:solidFill>
            <a:srgbClr val="DB2777">
              <a:alpha val="1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48640" y="329184"/>
            <a:ext cx="1175004" cy="384048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5875">
            <a:solidFill>
              <a:srgbClr val="DB27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"/>
            <a:ext cx="11750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 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786384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Healthcare Security &amp; Privacy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66928" y="1389888"/>
            <a:ext cx="11064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can sensitive healthcare information be protected?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1828800"/>
            <a:ext cx="5504688" cy="841248"/>
          </a:xfrm>
          <a:prstGeom prst="roundRect">
            <a:avLst>
              <a:gd name="adj" fmla="val 8696"/>
            </a:avLst>
          </a:prstGeom>
          <a:solidFill>
            <a:srgbClr val="FFE4EA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828800"/>
            <a:ext cx="91440" cy="841248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17" name="Text 15"/>
          <p:cNvSpPr/>
          <p:nvPr/>
        </p:nvSpPr>
        <p:spPr>
          <a:xfrm>
            <a:off x="804672" y="1920240"/>
            <a:ext cx="5029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Fernández-Alemán et al. (2013)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" y="2231136"/>
            <a:ext cx="5029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and privacy requirements in EHR systems.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5504688" cy="841248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788920"/>
            <a:ext cx="91440" cy="841248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21" name="Text 19"/>
          <p:cNvSpPr/>
          <p:nvPr/>
        </p:nvSpPr>
        <p:spPr>
          <a:xfrm>
            <a:off x="804672" y="2880360"/>
            <a:ext cx="5029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Kruse et al. (2017)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3191256"/>
            <a:ext cx="5029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Cybersecurity challenges in healthcare organizations.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2734056" cy="1143000"/>
          </a:xfrm>
          <a:prstGeom prst="roundRect">
            <a:avLst>
              <a:gd name="adj" fmla="val 6400"/>
            </a:avLst>
          </a:prstGeom>
          <a:solidFill>
            <a:srgbClr val="E0F2FE"/>
          </a:solidFill>
          <a:ln w="15875">
            <a:solidFill>
              <a:srgbClr val="028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005072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4370832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are you?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319272" y="3840480"/>
            <a:ext cx="2734056" cy="1143000"/>
          </a:xfrm>
          <a:prstGeom prst="roundRect">
            <a:avLst>
              <a:gd name="adj" fmla="val 6400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2152" y="4005072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AUTHORIZATION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02152" y="4370832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can you access?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135624" y="1828800"/>
            <a:ext cx="5504688" cy="3154680"/>
          </a:xfrm>
          <a:prstGeom prst="roundRect">
            <a:avLst>
              <a:gd name="adj" fmla="val 2319"/>
            </a:avLst>
          </a:prstGeom>
          <a:solidFill>
            <a:srgbClr val="FBFDFE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956816"/>
            <a:ext cx="4937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SECURITY APPROACH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2395728"/>
            <a:ext cx="4983480" cy="502920"/>
          </a:xfrm>
          <a:prstGeom prst="roundRect">
            <a:avLst>
              <a:gd name="adj" fmla="val 10909"/>
            </a:avLst>
          </a:prstGeom>
          <a:solidFill>
            <a:srgbClr val="FFE4EA"/>
          </a:solidFill>
          <a:ln w="15875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2395728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41080" y="2898648"/>
            <a:ext cx="5029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0" y="3035808"/>
            <a:ext cx="498348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3035808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 Control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41080" y="3538728"/>
            <a:ext cx="5029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▼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0" y="3675888"/>
            <a:ext cx="4983480" cy="502920"/>
          </a:xfrm>
          <a:prstGeom prst="roundRect">
            <a:avLst>
              <a:gd name="adj" fmla="val 10909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3675888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REST APIs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41080" y="4178808"/>
            <a:ext cx="5029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▼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0" y="4315968"/>
            <a:ext cx="498348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15875">
            <a:solidFill>
              <a:srgbClr val="0284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4315968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Controlled Data Access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8640" y="5175504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1F5F9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175504"/>
            <a:ext cx="105156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“Secure healthcare exchange requires both identity verification and controlled access.”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02920" y="6355080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Smart Healthcare Data Exchange and Analytics Ecosystem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/ 15</a:t>
            </a:r>
            <a:endParaRPr lang="en-US" sz="1100" dirty="0"/>
          </a:p>
        </p:txBody>
      </p:sp>
      <p:pic>
        <p:nvPicPr>
          <p:cNvPr id="60" name="Picture 59"/>
          <p:cNvPicPr/>
          <p:nvPr/>
        </p:nvPicPr>
        <p:blipFill>
          <a:blip r:embed="rId1"/>
          <a:srcRect b="36513"/>
          <a:stretch>
            <a:fillRect/>
          </a:stretch>
        </p:blipFill>
        <p:spPr>
          <a:xfrm>
            <a:off x="9610725" y="0"/>
            <a:ext cx="2580640" cy="786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11430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55448" cy="114300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4" name="Shape 2"/>
          <p:cNvSpPr/>
          <p:nvPr/>
        </p:nvSpPr>
        <p:spPr>
          <a:xfrm>
            <a:off x="0" y="2286000"/>
            <a:ext cx="155448" cy="1143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5" name="Shape 3"/>
          <p:cNvSpPr/>
          <p:nvPr/>
        </p:nvSpPr>
        <p:spPr>
          <a:xfrm>
            <a:off x="0" y="3429000"/>
            <a:ext cx="155448" cy="1143000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6" name="Shape 4"/>
          <p:cNvSpPr/>
          <p:nvPr/>
        </p:nvSpPr>
        <p:spPr>
          <a:xfrm>
            <a:off x="0" y="4572000"/>
            <a:ext cx="155448" cy="1143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7" name="Shape 5"/>
          <p:cNvSpPr/>
          <p:nvPr/>
        </p:nvSpPr>
        <p:spPr>
          <a:xfrm>
            <a:off x="0" y="5715000"/>
            <a:ext cx="155448" cy="1143000"/>
          </a:xfrm>
          <a:prstGeom prst="rect">
            <a:avLst/>
          </a:prstGeom>
          <a:solidFill>
            <a:srgbClr val="4D7C0F"/>
          </a:solidFill>
        </p:spPr>
      </p:sp>
      <p:sp>
        <p:nvSpPr>
          <p:cNvPr id="8" name="Shape 6"/>
          <p:cNvSpPr/>
          <p:nvPr/>
        </p:nvSpPr>
        <p:spPr>
          <a:xfrm>
            <a:off x="155448" y="0"/>
            <a:ext cx="45720" cy="6858000"/>
          </a:xfrm>
          <a:prstGeom prst="rect">
            <a:avLst/>
          </a:prstGeom>
          <a:solidFill>
            <a:srgbClr val="E6EDF3"/>
          </a:solidFill>
        </p:spPr>
      </p:sp>
      <p:sp>
        <p:nvSpPr>
          <p:cNvPr id="9" name="Shape 7"/>
          <p:cNvSpPr/>
          <p:nvPr/>
        </p:nvSpPr>
        <p:spPr>
          <a:xfrm>
            <a:off x="9052560" y="-1965960"/>
            <a:ext cx="4754880" cy="3931920"/>
          </a:xfrm>
          <a:prstGeom prst="ellipse">
            <a:avLst/>
          </a:prstGeom>
          <a:solidFill>
            <a:srgbClr val="B45309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0149840" y="-1371600"/>
            <a:ext cx="2743200" cy="2377440"/>
          </a:xfrm>
          <a:prstGeom prst="ellipse">
            <a:avLst/>
          </a:prstGeom>
          <a:solidFill>
            <a:srgbClr val="B45309">
              <a:alpha val="1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48640" y="329184"/>
            <a:ext cx="1175004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"/>
            <a:ext cx="11750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 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786384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REST APIs &amp; Scalable Architecture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66928" y="1389888"/>
            <a:ext cx="11064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can healthcare systems communicate and scale?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182880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D6FB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828800"/>
            <a:ext cx="91440" cy="8686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Text 15"/>
          <p:cNvSpPr/>
          <p:nvPr/>
        </p:nvSpPr>
        <p:spPr>
          <a:xfrm>
            <a:off x="804672" y="1920240"/>
            <a:ext cx="6217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4672" y="2249424"/>
            <a:ext cx="6217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communication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834640"/>
            <a:ext cx="91440" cy="86868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21" name="Text 19"/>
          <p:cNvSpPr/>
          <p:nvPr/>
        </p:nvSpPr>
        <p:spPr>
          <a:xfrm>
            <a:off x="804672" y="2926080"/>
            <a:ext cx="6217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FHIR APIs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04672" y="3255264"/>
            <a:ext cx="6217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Standardized healthcare resources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840480"/>
            <a:ext cx="91440" cy="86868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25" name="Text 23"/>
          <p:cNvSpPr/>
          <p:nvPr/>
        </p:nvSpPr>
        <p:spPr>
          <a:xfrm>
            <a:off x="804672" y="3931920"/>
            <a:ext cx="6217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Architecture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04672" y="4261104"/>
            <a:ext cx="6217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Independent components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6675120" cy="1005840"/>
          </a:xfrm>
          <a:prstGeom prst="roundRect">
            <a:avLst>
              <a:gd name="adj" fmla="val 7273"/>
            </a:avLst>
          </a:prstGeom>
          <a:solidFill>
            <a:srgbClr val="FBFDFE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4937760"/>
            <a:ext cx="6217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" y="5212080"/>
            <a:ext cx="6263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APIs alone do not standardize data  ·  Security must be built into the communication layer  ·  Legacy integration remains challenging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52360" y="1828800"/>
            <a:ext cx="4187952" cy="4023360"/>
          </a:xfrm>
          <a:prstGeom prst="roundRect">
            <a:avLst>
              <a:gd name="adj" fmla="val 1818"/>
            </a:avLst>
          </a:prstGeom>
          <a:solidFill>
            <a:srgbClr val="FBFDFE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9248" y="1956816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APPROACH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699248" y="2377440"/>
            <a:ext cx="3703320" cy="438912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 w="15875">
            <a:solidFill>
              <a:srgbClr val="0284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2377440"/>
            <a:ext cx="3703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299448" y="2816352"/>
            <a:ext cx="50292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6B8"/>
                </a:solidFill>
              </a:rPr>
              <a:t>▼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699248" y="2944368"/>
            <a:ext cx="3703320" cy="438912"/>
          </a:xfrm>
          <a:prstGeom prst="roundRect">
            <a:avLst>
              <a:gd name="adj" fmla="val 12500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9248" y="2944368"/>
            <a:ext cx="3703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299448" y="3383280"/>
            <a:ext cx="50292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6B8"/>
                </a:solidFill>
              </a:rPr>
              <a:t>▼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699248" y="3511296"/>
            <a:ext cx="3703320" cy="438912"/>
          </a:xfrm>
          <a:prstGeom prst="roundRect">
            <a:avLst>
              <a:gd name="adj" fmla="val 12500"/>
            </a:avLst>
          </a:prstGeom>
          <a:solidFill>
            <a:srgbClr val="FFE4EA"/>
          </a:solidFill>
          <a:ln w="15875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99248" y="3511296"/>
            <a:ext cx="3703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299448" y="3950208"/>
            <a:ext cx="50292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6B8"/>
                </a:solidFill>
              </a:rPr>
              <a:t>▼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699248" y="4078224"/>
            <a:ext cx="3703320" cy="438912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15875">
            <a:solidFill>
              <a:srgbClr val="6D28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99248" y="4078224"/>
            <a:ext cx="3703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Logic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299448" y="4517136"/>
            <a:ext cx="50292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6B8"/>
                </a:solidFill>
              </a:rPr>
              <a:t>▼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99248" y="4645152"/>
            <a:ext cx="3703320" cy="438912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99248" y="4645152"/>
            <a:ext cx="3703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+ MongoDB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299448" y="5084064"/>
            <a:ext cx="50292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6B8"/>
                </a:solidFill>
              </a:rPr>
              <a:t>▼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699248" y="5212080"/>
            <a:ext cx="3703320" cy="438912"/>
          </a:xfrm>
          <a:prstGeom prst="roundRect">
            <a:avLst>
              <a:gd name="adj" fmla="val 12500"/>
            </a:avLst>
          </a:prstGeom>
          <a:solidFill>
            <a:srgbClr val="EDFCCB"/>
          </a:solidFill>
          <a:ln w="15875">
            <a:solidFill>
              <a:srgbClr val="4D7C0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99248" y="5212080"/>
            <a:ext cx="3703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02920" y="6355080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Smart Healthcare Data Exchange and Analytics Ecosystem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/ 15</a:t>
            </a:r>
            <a:endParaRPr lang="en-US" sz="1100" dirty="0"/>
          </a:p>
        </p:txBody>
      </p:sp>
      <p:pic>
        <p:nvPicPr>
          <p:cNvPr id="60" name="Picture 59"/>
          <p:cNvPicPr/>
          <p:nvPr/>
        </p:nvPicPr>
        <p:blipFill>
          <a:blip r:embed="rId1"/>
          <a:srcRect b="36513"/>
          <a:stretch>
            <a:fillRect/>
          </a:stretch>
        </p:blipFill>
        <p:spPr>
          <a:xfrm>
            <a:off x="9610725" y="0"/>
            <a:ext cx="2580640" cy="7861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11430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55448" cy="114300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4" name="Shape 2"/>
          <p:cNvSpPr/>
          <p:nvPr/>
        </p:nvSpPr>
        <p:spPr>
          <a:xfrm>
            <a:off x="0" y="2286000"/>
            <a:ext cx="155448" cy="1143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5" name="Shape 3"/>
          <p:cNvSpPr/>
          <p:nvPr/>
        </p:nvSpPr>
        <p:spPr>
          <a:xfrm>
            <a:off x="0" y="3429000"/>
            <a:ext cx="155448" cy="1143000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6" name="Shape 4"/>
          <p:cNvSpPr/>
          <p:nvPr/>
        </p:nvSpPr>
        <p:spPr>
          <a:xfrm>
            <a:off x="0" y="4572000"/>
            <a:ext cx="155448" cy="1143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7" name="Shape 5"/>
          <p:cNvSpPr/>
          <p:nvPr/>
        </p:nvSpPr>
        <p:spPr>
          <a:xfrm>
            <a:off x="0" y="5715000"/>
            <a:ext cx="155448" cy="1143000"/>
          </a:xfrm>
          <a:prstGeom prst="rect">
            <a:avLst/>
          </a:prstGeom>
          <a:solidFill>
            <a:srgbClr val="4D7C0F"/>
          </a:solidFill>
        </p:spPr>
      </p:sp>
      <p:sp>
        <p:nvSpPr>
          <p:cNvPr id="8" name="Shape 6"/>
          <p:cNvSpPr/>
          <p:nvPr/>
        </p:nvSpPr>
        <p:spPr>
          <a:xfrm>
            <a:off x="155448" y="0"/>
            <a:ext cx="45720" cy="6858000"/>
          </a:xfrm>
          <a:prstGeom prst="rect">
            <a:avLst/>
          </a:prstGeom>
          <a:solidFill>
            <a:srgbClr val="E6EDF3"/>
          </a:solidFill>
        </p:spPr>
      </p:sp>
      <p:sp>
        <p:nvSpPr>
          <p:cNvPr id="9" name="Shape 7"/>
          <p:cNvSpPr/>
          <p:nvPr/>
        </p:nvSpPr>
        <p:spPr>
          <a:xfrm>
            <a:off x="9052560" y="-1965960"/>
            <a:ext cx="4754880" cy="3931920"/>
          </a:xfrm>
          <a:prstGeom prst="ellipse">
            <a:avLst/>
          </a:prstGeom>
          <a:solidFill>
            <a:srgbClr val="4D7C0F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0149840" y="-1371600"/>
            <a:ext cx="2743200" cy="2377440"/>
          </a:xfrm>
          <a:prstGeom prst="ellipse">
            <a:avLst/>
          </a:prstGeom>
          <a:solidFill>
            <a:srgbClr val="4D7C0F">
              <a:alpha val="1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48640" y="329184"/>
            <a:ext cx="1175004" cy="384048"/>
          </a:xfrm>
          <a:prstGeom prst="roundRect">
            <a:avLst>
              <a:gd name="adj" fmla="val 50000"/>
            </a:avLst>
          </a:prstGeom>
          <a:solidFill>
            <a:srgbClr val="EDFCCB"/>
          </a:solidFill>
          <a:ln w="15875">
            <a:solidFill>
              <a:srgbClr val="4D7C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"/>
            <a:ext cx="11750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4D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 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786384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Deployment, Testing &amp; Scalability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66928" y="1389888"/>
            <a:ext cx="11064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can the healthcare platform remain reliable as usage grows?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1828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0F2FE"/>
          </a:solidFill>
          <a:ln w="15875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1993392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2395728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Flexible infrastructure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88536" y="1828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DFCCB"/>
          </a:solidFill>
          <a:ln w="15875">
            <a:solidFill>
              <a:srgbClr val="4D7C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17136" y="1993392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4D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17136" y="2395728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 and correctness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28432" y="1828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57032" y="1993392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ARCHITECTURE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57032" y="2395728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Independent scaling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" y="32918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PLANNED FLOW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657600"/>
            <a:ext cx="1572768" cy="603504"/>
          </a:xfrm>
          <a:prstGeom prst="roundRect">
            <a:avLst>
              <a:gd name="adj" fmla="val 50000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657600"/>
            <a:ext cx="157276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39696" y="3657600"/>
            <a:ext cx="2743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6B8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432304" y="3657600"/>
            <a:ext cx="1572768" cy="603504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5875">
            <a:solidFill>
              <a:srgbClr val="0284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32304" y="3657600"/>
            <a:ext cx="157276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023360" y="3657600"/>
            <a:ext cx="2743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6B8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15968" y="3657600"/>
            <a:ext cx="1572768" cy="60350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5875">
            <a:solidFill>
              <a:srgbClr val="6D2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15968" y="3657600"/>
            <a:ext cx="157276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07024" y="3657600"/>
            <a:ext cx="2743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6B8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9632" y="3657600"/>
            <a:ext cx="1572768" cy="603504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5875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3657600"/>
            <a:ext cx="157276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90688" y="3657600"/>
            <a:ext cx="2743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6B8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83296" y="3657600"/>
            <a:ext cx="1572768" cy="60350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83296" y="3657600"/>
            <a:ext cx="157276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74352" y="3657600"/>
            <a:ext cx="2743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6B8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966960" y="3657600"/>
            <a:ext cx="1572768" cy="603504"/>
          </a:xfrm>
          <a:prstGeom prst="roundRect">
            <a:avLst>
              <a:gd name="adj" fmla="val 50000"/>
            </a:avLst>
          </a:prstGeom>
          <a:solidFill>
            <a:srgbClr val="EDFCCB"/>
          </a:solidFill>
          <a:ln w="15875">
            <a:solidFill>
              <a:srgbClr val="4D7C0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66960" y="3657600"/>
            <a:ext cx="157276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4526280"/>
            <a:ext cx="6675120" cy="1325880"/>
          </a:xfrm>
          <a:prstGeom prst="roundRect">
            <a:avLst>
              <a:gd name="adj" fmla="val 5517"/>
            </a:avLst>
          </a:prstGeom>
          <a:solidFill>
            <a:srgbClr val="FBFDFE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4645152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4D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OBSERVATION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4672" y="4937760"/>
            <a:ext cx="6263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“Scalability is not only about handling more users; security, reliability and data consistency must also be maintained.”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52360" y="4526280"/>
            <a:ext cx="4187952" cy="1325880"/>
          </a:xfrm>
          <a:prstGeom prst="roundRect">
            <a:avLst>
              <a:gd name="adj" fmla="val 5517"/>
            </a:avLst>
          </a:prstGeom>
          <a:solidFill>
            <a:srgbClr val="FBFDFE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99248" y="46451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699248" y="49560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Postman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699248" y="5248656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Git / GitHub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699248" y="5541264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Cloud deployment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502920" y="6355080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Smart Healthcare Data Exchange and Analytics Ecosystem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15</a:t>
            </a:r>
            <a:endParaRPr lang="en-US" sz="1100" dirty="0"/>
          </a:p>
        </p:txBody>
      </p:sp>
      <p:pic>
        <p:nvPicPr>
          <p:cNvPr id="60" name="Picture 59"/>
          <p:cNvPicPr/>
          <p:nvPr/>
        </p:nvPicPr>
        <p:blipFill>
          <a:blip r:embed="rId1"/>
          <a:srcRect b="36513"/>
          <a:stretch>
            <a:fillRect/>
          </a:stretch>
        </p:blipFill>
        <p:spPr>
          <a:xfrm>
            <a:off x="9610725" y="0"/>
            <a:ext cx="2580640" cy="7861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11430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55448" cy="114300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4" name="Shape 2"/>
          <p:cNvSpPr/>
          <p:nvPr/>
        </p:nvSpPr>
        <p:spPr>
          <a:xfrm>
            <a:off x="0" y="2286000"/>
            <a:ext cx="155448" cy="1143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5" name="Shape 3"/>
          <p:cNvSpPr/>
          <p:nvPr/>
        </p:nvSpPr>
        <p:spPr>
          <a:xfrm>
            <a:off x="0" y="3429000"/>
            <a:ext cx="155448" cy="1143000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6" name="Shape 4"/>
          <p:cNvSpPr/>
          <p:nvPr/>
        </p:nvSpPr>
        <p:spPr>
          <a:xfrm>
            <a:off x="0" y="4572000"/>
            <a:ext cx="155448" cy="1143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7" name="Shape 5"/>
          <p:cNvSpPr/>
          <p:nvPr/>
        </p:nvSpPr>
        <p:spPr>
          <a:xfrm>
            <a:off x="0" y="5715000"/>
            <a:ext cx="155448" cy="1143000"/>
          </a:xfrm>
          <a:prstGeom prst="rect">
            <a:avLst/>
          </a:prstGeom>
          <a:solidFill>
            <a:srgbClr val="4D7C0F"/>
          </a:solidFill>
        </p:spPr>
      </p:sp>
      <p:sp>
        <p:nvSpPr>
          <p:cNvPr id="8" name="Shape 6"/>
          <p:cNvSpPr/>
          <p:nvPr/>
        </p:nvSpPr>
        <p:spPr>
          <a:xfrm>
            <a:off x="155448" y="0"/>
            <a:ext cx="45720" cy="6858000"/>
          </a:xfrm>
          <a:prstGeom prst="rect">
            <a:avLst/>
          </a:prstGeom>
          <a:solidFill>
            <a:srgbClr val="E6EDF3"/>
          </a:solidFill>
        </p:spPr>
      </p:sp>
      <p:sp>
        <p:nvSpPr>
          <p:cNvPr id="9" name="Shape 7"/>
          <p:cNvSpPr/>
          <p:nvPr/>
        </p:nvSpPr>
        <p:spPr>
          <a:xfrm>
            <a:off x="9052560" y="-1965960"/>
            <a:ext cx="4754880" cy="3931920"/>
          </a:xfrm>
          <a:prstGeom prst="ellipse">
            <a:avLst/>
          </a:prstGeom>
          <a:solidFill>
            <a:srgbClr val="0D9488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0149840" y="-1371600"/>
            <a:ext cx="2743200" cy="2377440"/>
          </a:xfrm>
          <a:prstGeom prst="ellipse">
            <a:avLst/>
          </a:prstGeom>
          <a:solidFill>
            <a:srgbClr val="0D9488">
              <a:alpha val="1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48640" y="329184"/>
            <a:ext cx="1545336" cy="384048"/>
          </a:xfrm>
          <a:prstGeom prst="roundRect">
            <a:avLst>
              <a:gd name="adj" fmla="val 50000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"/>
            <a:ext cx="1545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786384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Overall Comparative Analysis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548640" y="1536192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1536192"/>
            <a:ext cx="3520440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6" name="Text 14"/>
          <p:cNvSpPr/>
          <p:nvPr/>
        </p:nvSpPr>
        <p:spPr>
          <a:xfrm>
            <a:off x="768096" y="1664208"/>
            <a:ext cx="3108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INTEROPERABILITY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8096" y="201168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 </a:t>
            </a: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Standardized exchange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" y="2395728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  </a:t>
            </a: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Legacy integration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88536" y="1536192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0F2FE"/>
          </a:solidFill>
          <a:ln w="15875">
            <a:solidFill>
              <a:srgbClr val="0284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88536" y="1536192"/>
            <a:ext cx="3520440" cy="73152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21" name="Text 19"/>
          <p:cNvSpPr/>
          <p:nvPr/>
        </p:nvSpPr>
        <p:spPr>
          <a:xfrm>
            <a:off x="4507992" y="1664208"/>
            <a:ext cx="3108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MANAGEMENT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07992" y="201168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 </a:t>
            </a: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storage approaches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07992" y="2395728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  </a:t>
            </a: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Heterogeneous data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28432" y="1536192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DE9FE"/>
          </a:solidFill>
          <a:ln w="15875">
            <a:solidFill>
              <a:srgbClr val="6D28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28432" y="1536192"/>
            <a:ext cx="3520440" cy="73152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26" name="Text 24"/>
          <p:cNvSpPr/>
          <p:nvPr/>
        </p:nvSpPr>
        <p:spPr>
          <a:xfrm>
            <a:off x="8247888" y="1664208"/>
            <a:ext cx="3108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6D28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/ ML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47888" y="201168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 </a:t>
            </a: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discovery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47888" y="2395728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  </a:t>
            </a: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Quality + interpretability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31089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E4EA"/>
          </a:solidFill>
          <a:ln w="15875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108960"/>
            <a:ext cx="3520440" cy="73152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31" name="Text 29"/>
          <p:cNvSpPr/>
          <p:nvPr/>
        </p:nvSpPr>
        <p:spPr>
          <a:xfrm>
            <a:off x="768096" y="3236976"/>
            <a:ext cx="3108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8096" y="3584448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 </a:t>
            </a: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Controlled access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8096" y="3968496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  </a:t>
            </a: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multi-system security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288536" y="31089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88536" y="3108960"/>
            <a:ext cx="3520440" cy="73152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36" name="Text 34"/>
          <p:cNvSpPr/>
          <p:nvPr/>
        </p:nvSpPr>
        <p:spPr>
          <a:xfrm>
            <a:off x="4507992" y="3236976"/>
            <a:ext cx="3108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507992" y="3584448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 </a:t>
            </a: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communication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7992" y="3968496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  </a:t>
            </a: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complete interoperability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028432" y="31089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DFCCB"/>
          </a:solidFill>
          <a:ln w="15875">
            <a:solidFill>
              <a:srgbClr val="4D7C0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28432" y="3108960"/>
            <a:ext cx="3520440" cy="73152"/>
          </a:xfrm>
          <a:prstGeom prst="rect">
            <a:avLst/>
          </a:prstGeom>
          <a:solidFill>
            <a:srgbClr val="4D7C0F"/>
          </a:solidFill>
        </p:spPr>
      </p:sp>
      <p:sp>
        <p:nvSpPr>
          <p:cNvPr id="41" name="Text 39"/>
          <p:cNvSpPr/>
          <p:nvPr/>
        </p:nvSpPr>
        <p:spPr>
          <a:xfrm>
            <a:off x="8247888" y="3236976"/>
            <a:ext cx="3108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4D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247888" y="3584448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 </a:t>
            </a: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Supports growth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47888" y="3968496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  </a:t>
            </a:r>
            <a:r>
              <a:rPr lang="en-US" sz="1400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 + security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4892040"/>
            <a:ext cx="10424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“Existing research provides strong individual solutions, but these capabilities are often addressed separately.”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502920" y="6355080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Smart Healthcare Data Exchange and Analytics Ecosystem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15</a:t>
            </a:r>
            <a:endParaRPr lang="en-US" sz="1100" dirty="0"/>
          </a:p>
        </p:txBody>
      </p:sp>
      <p:pic>
        <p:nvPicPr>
          <p:cNvPr id="60" name="Picture 59"/>
          <p:cNvPicPr/>
          <p:nvPr/>
        </p:nvPicPr>
        <p:blipFill>
          <a:blip r:embed="rId1"/>
          <a:srcRect b="36513"/>
          <a:stretch>
            <a:fillRect/>
          </a:stretch>
        </p:blipFill>
        <p:spPr>
          <a:xfrm>
            <a:off x="9610725" y="0"/>
            <a:ext cx="2580640" cy="7861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11430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55448" cy="114300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4" name="Shape 2"/>
          <p:cNvSpPr/>
          <p:nvPr/>
        </p:nvSpPr>
        <p:spPr>
          <a:xfrm>
            <a:off x="0" y="2286000"/>
            <a:ext cx="155448" cy="1143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5" name="Shape 3"/>
          <p:cNvSpPr/>
          <p:nvPr/>
        </p:nvSpPr>
        <p:spPr>
          <a:xfrm>
            <a:off x="0" y="3429000"/>
            <a:ext cx="155448" cy="1143000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6" name="Shape 4"/>
          <p:cNvSpPr/>
          <p:nvPr/>
        </p:nvSpPr>
        <p:spPr>
          <a:xfrm>
            <a:off x="0" y="4572000"/>
            <a:ext cx="155448" cy="1143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7" name="Shape 5"/>
          <p:cNvSpPr/>
          <p:nvPr/>
        </p:nvSpPr>
        <p:spPr>
          <a:xfrm>
            <a:off x="0" y="5715000"/>
            <a:ext cx="155448" cy="1143000"/>
          </a:xfrm>
          <a:prstGeom prst="rect">
            <a:avLst/>
          </a:prstGeom>
          <a:solidFill>
            <a:srgbClr val="4D7C0F"/>
          </a:solidFill>
        </p:spPr>
      </p:sp>
      <p:sp>
        <p:nvSpPr>
          <p:cNvPr id="8" name="Shape 6"/>
          <p:cNvSpPr/>
          <p:nvPr/>
        </p:nvSpPr>
        <p:spPr>
          <a:xfrm>
            <a:off x="155448" y="0"/>
            <a:ext cx="45720" cy="6858000"/>
          </a:xfrm>
          <a:prstGeom prst="rect">
            <a:avLst/>
          </a:prstGeom>
          <a:solidFill>
            <a:srgbClr val="E6EDF3"/>
          </a:solidFill>
        </p:spPr>
      </p:sp>
      <p:sp>
        <p:nvSpPr>
          <p:cNvPr id="9" name="Shape 7"/>
          <p:cNvSpPr/>
          <p:nvPr/>
        </p:nvSpPr>
        <p:spPr>
          <a:xfrm>
            <a:off x="9052560" y="-1965960"/>
            <a:ext cx="4754880" cy="3931920"/>
          </a:xfrm>
          <a:prstGeom prst="ellipse">
            <a:avLst/>
          </a:prstGeom>
          <a:solidFill>
            <a:srgbClr val="0D9488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0149840" y="-1371600"/>
            <a:ext cx="2743200" cy="2377440"/>
          </a:xfrm>
          <a:prstGeom prst="ellipse">
            <a:avLst/>
          </a:prstGeom>
          <a:solidFill>
            <a:srgbClr val="0D9488">
              <a:alpha val="1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48640" y="329184"/>
            <a:ext cx="1421892" cy="384048"/>
          </a:xfrm>
          <a:prstGeom prst="roundRect">
            <a:avLst>
              <a:gd name="adj" fmla="val 50000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"/>
            <a:ext cx="14218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786384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Critical Analysis &amp; What We Learned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548640" y="1572768"/>
            <a:ext cx="3703320" cy="3246120"/>
          </a:xfrm>
          <a:prstGeom prst="roundRect">
            <a:avLst>
              <a:gd name="adj" fmla="val 2254"/>
            </a:avLst>
          </a:prstGeom>
          <a:solidFill>
            <a:srgbClr val="EDFCCB"/>
          </a:solidFill>
          <a:ln w="15875">
            <a:solidFill>
              <a:srgbClr val="4D7C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173736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D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RESEARCH DOES WELL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" y="2441448"/>
            <a:ext cx="109728" cy="109728"/>
          </a:xfrm>
          <a:prstGeom prst="ellipse">
            <a:avLst/>
          </a:prstGeom>
          <a:solidFill>
            <a:srgbClr val="4D7C0F"/>
          </a:solidFill>
        </p:spPr>
      </p:sp>
      <p:sp>
        <p:nvSpPr>
          <p:cNvPr id="17" name="Text 15"/>
          <p:cNvSpPr/>
          <p:nvPr/>
        </p:nvSpPr>
        <p:spPr>
          <a:xfrm>
            <a:off x="1051560" y="2286000"/>
            <a:ext cx="3063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Interoperability standards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" y="2944368"/>
            <a:ext cx="109728" cy="109728"/>
          </a:xfrm>
          <a:prstGeom prst="ellipse">
            <a:avLst/>
          </a:prstGeom>
          <a:solidFill>
            <a:srgbClr val="4D7C0F"/>
          </a:solidFill>
        </p:spPr>
      </p:sp>
      <p:sp>
        <p:nvSpPr>
          <p:cNvPr id="19" name="Text 17"/>
          <p:cNvSpPr/>
          <p:nvPr/>
        </p:nvSpPr>
        <p:spPr>
          <a:xfrm>
            <a:off x="1051560" y="2788920"/>
            <a:ext cx="3063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Data-management approaches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" y="3447288"/>
            <a:ext cx="109728" cy="109728"/>
          </a:xfrm>
          <a:prstGeom prst="ellipse">
            <a:avLst/>
          </a:prstGeom>
          <a:solidFill>
            <a:srgbClr val="4D7C0F"/>
          </a:solidFill>
        </p:spPr>
      </p:sp>
      <p:sp>
        <p:nvSpPr>
          <p:cNvPr id="21" name="Text 19"/>
          <p:cNvSpPr/>
          <p:nvPr/>
        </p:nvSpPr>
        <p:spPr>
          <a:xfrm>
            <a:off x="1051560" y="3291840"/>
            <a:ext cx="3063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Powerful AI/ML techniques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4672" y="3950208"/>
            <a:ext cx="109728" cy="109728"/>
          </a:xfrm>
          <a:prstGeom prst="ellipse">
            <a:avLst/>
          </a:prstGeom>
          <a:solidFill>
            <a:srgbClr val="4D7C0F"/>
          </a:solidFill>
        </p:spPr>
      </p:sp>
      <p:sp>
        <p:nvSpPr>
          <p:cNvPr id="23" name="Text 21"/>
          <p:cNvSpPr/>
          <p:nvPr/>
        </p:nvSpPr>
        <p:spPr>
          <a:xfrm>
            <a:off x="1051560" y="3794760"/>
            <a:ext cx="3063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mechanisms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" y="4453128"/>
            <a:ext cx="109728" cy="109728"/>
          </a:xfrm>
          <a:prstGeom prst="ellipse">
            <a:avLst/>
          </a:prstGeom>
          <a:solidFill>
            <a:srgbClr val="4D7C0F"/>
          </a:solidFill>
        </p:spPr>
      </p:sp>
      <p:sp>
        <p:nvSpPr>
          <p:cNvPr id="25" name="Text 23"/>
          <p:cNvSpPr/>
          <p:nvPr/>
        </p:nvSpPr>
        <p:spPr>
          <a:xfrm>
            <a:off x="1051560" y="4297680"/>
            <a:ext cx="3063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 architectures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70248" y="1572768"/>
            <a:ext cx="274320" cy="3246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6B8"/>
                </a:solidFill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26280" y="1572768"/>
            <a:ext cx="3703320" cy="3246120"/>
          </a:xfrm>
          <a:prstGeom prst="roundRect">
            <a:avLst>
              <a:gd name="adj" fmla="val 2254"/>
            </a:avLst>
          </a:prstGeom>
          <a:solidFill>
            <a:srgbClr val="FEF3C7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024" y="173736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REMAINS CHALLENGING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82312" y="2441448"/>
            <a:ext cx="109728" cy="109728"/>
          </a:xfrm>
          <a:prstGeom prst="ellipse">
            <a:avLst/>
          </a:prstGeom>
          <a:solidFill>
            <a:srgbClr val="B45309"/>
          </a:solidFill>
        </p:spPr>
      </p:sp>
      <p:sp>
        <p:nvSpPr>
          <p:cNvPr id="30" name="Text 28"/>
          <p:cNvSpPr/>
          <p:nvPr/>
        </p:nvSpPr>
        <p:spPr>
          <a:xfrm>
            <a:off x="5029200" y="2286000"/>
            <a:ext cx="3063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Heterogeneous healthcare data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82312" y="2944368"/>
            <a:ext cx="109728" cy="109728"/>
          </a:xfrm>
          <a:prstGeom prst="ellipse">
            <a:avLst/>
          </a:prstGeom>
          <a:solidFill>
            <a:srgbClr val="B45309"/>
          </a:solidFill>
        </p:spPr>
      </p:sp>
      <p:sp>
        <p:nvSpPr>
          <p:cNvPr id="32" name="Text 30"/>
          <p:cNvSpPr/>
          <p:nvPr/>
        </p:nvSpPr>
        <p:spPr>
          <a:xfrm>
            <a:off x="5029200" y="2788920"/>
            <a:ext cx="3063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Cross-system integration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82312" y="3447288"/>
            <a:ext cx="109728" cy="109728"/>
          </a:xfrm>
          <a:prstGeom prst="ellipse">
            <a:avLst/>
          </a:prstGeom>
          <a:solidFill>
            <a:srgbClr val="B45309"/>
          </a:solidFill>
        </p:spPr>
      </p:sp>
      <p:sp>
        <p:nvSpPr>
          <p:cNvPr id="34" name="Text 32"/>
          <p:cNvSpPr/>
          <p:nvPr/>
        </p:nvSpPr>
        <p:spPr>
          <a:xfrm>
            <a:off x="5029200" y="3291840"/>
            <a:ext cx="3063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across systems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82312" y="3950208"/>
            <a:ext cx="109728" cy="109728"/>
          </a:xfrm>
          <a:prstGeom prst="ellipse">
            <a:avLst/>
          </a:prstGeom>
          <a:solidFill>
            <a:srgbClr val="B45309"/>
          </a:solidFill>
        </p:spPr>
      </p:sp>
      <p:sp>
        <p:nvSpPr>
          <p:cNvPr id="36" name="Text 34"/>
          <p:cNvSpPr/>
          <p:nvPr/>
        </p:nvSpPr>
        <p:spPr>
          <a:xfrm>
            <a:off x="5029200" y="3794760"/>
            <a:ext cx="3063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Data-to-analytics connection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82312" y="4453128"/>
            <a:ext cx="109728" cy="109728"/>
          </a:xfrm>
          <a:prstGeom prst="ellipse">
            <a:avLst/>
          </a:prstGeom>
          <a:solidFill>
            <a:srgbClr val="B45309"/>
          </a:solidFill>
        </p:spPr>
      </p:sp>
      <p:sp>
        <p:nvSpPr>
          <p:cNvPr id="38" name="Text 36"/>
          <p:cNvSpPr/>
          <p:nvPr/>
        </p:nvSpPr>
        <p:spPr>
          <a:xfrm>
            <a:off x="5029200" y="4297680"/>
            <a:ext cx="3063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 with reliability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47888" y="1572768"/>
            <a:ext cx="274320" cy="3246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6B8"/>
                </a:solidFill>
              </a:rPr>
              <a:t>▶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503920" y="1572768"/>
            <a:ext cx="3108960" cy="324612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41664" y="173736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LEARNED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741664" y="2240280"/>
            <a:ext cx="2697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“A healthcare solution cannot depend on one technology alone.”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8741664" y="3401568"/>
            <a:ext cx="2697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 DATA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741664" y="3675888"/>
            <a:ext cx="2697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 SECURITY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741664" y="3950208"/>
            <a:ext cx="2697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 INTEROPERABILITY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741664" y="4224528"/>
            <a:ext cx="2697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 ANALYTICS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741664" y="4498848"/>
            <a:ext cx="2697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 SCALABILITY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48640" y="5047488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BFD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" y="5047488"/>
            <a:ext cx="10424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Synthesis, not summary — the literature converges on capabilities that must be combined at system level.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502920" y="6355080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Smart Healthcare Data Exchange and Analytics Ecosystem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15</a:t>
            </a:r>
            <a:endParaRPr lang="en-US" sz="1100" dirty="0"/>
          </a:p>
        </p:txBody>
      </p:sp>
      <p:pic>
        <p:nvPicPr>
          <p:cNvPr id="60" name="Picture 59"/>
          <p:cNvPicPr/>
          <p:nvPr/>
        </p:nvPicPr>
        <p:blipFill>
          <a:blip r:embed="rId1"/>
          <a:srcRect b="36513"/>
          <a:stretch>
            <a:fillRect/>
          </a:stretch>
        </p:blipFill>
        <p:spPr>
          <a:xfrm>
            <a:off x="9610725" y="0"/>
            <a:ext cx="2580640" cy="7861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11430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55448" cy="114300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4" name="Shape 2"/>
          <p:cNvSpPr/>
          <p:nvPr/>
        </p:nvSpPr>
        <p:spPr>
          <a:xfrm>
            <a:off x="0" y="2286000"/>
            <a:ext cx="155448" cy="1143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5" name="Shape 3"/>
          <p:cNvSpPr/>
          <p:nvPr/>
        </p:nvSpPr>
        <p:spPr>
          <a:xfrm>
            <a:off x="0" y="3429000"/>
            <a:ext cx="155448" cy="1143000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6" name="Shape 4"/>
          <p:cNvSpPr/>
          <p:nvPr/>
        </p:nvSpPr>
        <p:spPr>
          <a:xfrm>
            <a:off x="0" y="4572000"/>
            <a:ext cx="155448" cy="1143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7" name="Shape 5"/>
          <p:cNvSpPr/>
          <p:nvPr/>
        </p:nvSpPr>
        <p:spPr>
          <a:xfrm>
            <a:off x="0" y="5715000"/>
            <a:ext cx="155448" cy="1143000"/>
          </a:xfrm>
          <a:prstGeom prst="rect">
            <a:avLst/>
          </a:prstGeom>
          <a:solidFill>
            <a:srgbClr val="4D7C0F"/>
          </a:solidFill>
        </p:spPr>
      </p:sp>
      <p:sp>
        <p:nvSpPr>
          <p:cNvPr id="8" name="Shape 6"/>
          <p:cNvSpPr/>
          <p:nvPr/>
        </p:nvSpPr>
        <p:spPr>
          <a:xfrm>
            <a:off x="155448" y="0"/>
            <a:ext cx="45720" cy="6858000"/>
          </a:xfrm>
          <a:prstGeom prst="rect">
            <a:avLst/>
          </a:prstGeom>
          <a:solidFill>
            <a:srgbClr val="E6EDF3"/>
          </a:solidFill>
        </p:spPr>
      </p:sp>
      <p:sp>
        <p:nvSpPr>
          <p:cNvPr id="9" name="Shape 7"/>
          <p:cNvSpPr/>
          <p:nvPr/>
        </p:nvSpPr>
        <p:spPr>
          <a:xfrm>
            <a:off x="9052560" y="-1965960"/>
            <a:ext cx="4754880" cy="3931920"/>
          </a:xfrm>
          <a:prstGeom prst="ellipse">
            <a:avLst/>
          </a:prstGeom>
          <a:solidFill>
            <a:srgbClr val="DB2777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0149840" y="-1371600"/>
            <a:ext cx="2743200" cy="2377440"/>
          </a:xfrm>
          <a:prstGeom prst="ellipse">
            <a:avLst/>
          </a:prstGeom>
          <a:solidFill>
            <a:srgbClr val="DB2777">
              <a:alpha val="1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48640" y="329184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5875">
            <a:solidFill>
              <a:srgbClr val="DB27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"/>
            <a:ext cx="179222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786384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Research Gap &amp; Our Proposed Response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66928" y="1517904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“Integration of secure data exchange, heterogeneous data management and healthcare analytics remains a challenging system-level problem.”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1938528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IDENTIFIED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938528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RESPONSE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267712"/>
            <a:ext cx="5532120" cy="585216"/>
          </a:xfrm>
          <a:prstGeom prst="roundRect">
            <a:avLst>
              <a:gd name="adj" fmla="val 9375"/>
            </a:avLst>
          </a:prstGeom>
          <a:solidFill>
            <a:srgbClr val="FFE4EA"/>
          </a:solidFill>
          <a:ln w="15875">
            <a:solidFill>
              <a:srgbClr val="DB27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267712"/>
            <a:ext cx="64008" cy="585216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19" name="Text 17"/>
          <p:cNvSpPr/>
          <p:nvPr/>
        </p:nvSpPr>
        <p:spPr>
          <a:xfrm>
            <a:off x="777240" y="2267712"/>
            <a:ext cx="9144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91640" y="2267712"/>
            <a:ext cx="42062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Fragmented solutions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08192" y="2267712"/>
            <a:ext cx="347472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6B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92240" y="2267712"/>
            <a:ext cx="5120640" cy="585216"/>
          </a:xfrm>
          <a:prstGeom prst="roundRect">
            <a:avLst>
              <a:gd name="adj" fmla="val 9375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267712"/>
            <a:ext cx="46634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Unified ecosystem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2907792"/>
            <a:ext cx="5532120" cy="585216"/>
          </a:xfrm>
          <a:prstGeom prst="roundRect">
            <a:avLst>
              <a:gd name="adj" fmla="val 9375"/>
            </a:avLst>
          </a:prstGeom>
          <a:solidFill>
            <a:srgbClr val="FFE4EA"/>
          </a:solidFill>
          <a:ln w="15875">
            <a:solidFill>
              <a:srgbClr val="DB27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2907792"/>
            <a:ext cx="64008" cy="585216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26" name="Text 24"/>
          <p:cNvSpPr/>
          <p:nvPr/>
        </p:nvSpPr>
        <p:spPr>
          <a:xfrm>
            <a:off x="777240" y="2907792"/>
            <a:ext cx="9144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91640" y="2907792"/>
            <a:ext cx="42062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Heterogeneous healthcare data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08192" y="2907792"/>
            <a:ext cx="347472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6B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92240" y="2907792"/>
            <a:ext cx="5120640" cy="585216"/>
          </a:xfrm>
          <a:prstGeom prst="roundRect">
            <a:avLst>
              <a:gd name="adj" fmla="val 9375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2907792"/>
            <a:ext cx="46634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+ MongoDB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3547872"/>
            <a:ext cx="5532120" cy="585216"/>
          </a:xfrm>
          <a:prstGeom prst="roundRect">
            <a:avLst>
              <a:gd name="adj" fmla="val 9375"/>
            </a:avLst>
          </a:prstGeom>
          <a:solidFill>
            <a:srgbClr val="FFE4EA"/>
          </a:solidFill>
          <a:ln w="15875">
            <a:solidFill>
              <a:srgbClr val="DB27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547872"/>
            <a:ext cx="64008" cy="585216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33" name="Text 31"/>
          <p:cNvSpPr/>
          <p:nvPr/>
        </p:nvSpPr>
        <p:spPr>
          <a:xfrm>
            <a:off x="777240" y="3547872"/>
            <a:ext cx="9144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691640" y="3547872"/>
            <a:ext cx="42062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data exchange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108192" y="3547872"/>
            <a:ext cx="347472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6B8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92240" y="3547872"/>
            <a:ext cx="5120640" cy="585216"/>
          </a:xfrm>
          <a:prstGeom prst="roundRect">
            <a:avLst>
              <a:gd name="adj" fmla="val 9375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3547872"/>
            <a:ext cx="46634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+ RBAC + REST APIs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48640" y="4187952"/>
            <a:ext cx="5532120" cy="585216"/>
          </a:xfrm>
          <a:prstGeom prst="roundRect">
            <a:avLst>
              <a:gd name="adj" fmla="val 9375"/>
            </a:avLst>
          </a:prstGeom>
          <a:solidFill>
            <a:srgbClr val="FFE4EA"/>
          </a:solidFill>
          <a:ln w="15875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4187952"/>
            <a:ext cx="64008" cy="585216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40" name="Text 38"/>
          <p:cNvSpPr/>
          <p:nvPr/>
        </p:nvSpPr>
        <p:spPr>
          <a:xfrm>
            <a:off x="777240" y="4187952"/>
            <a:ext cx="9144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691640" y="4187952"/>
            <a:ext cx="42062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Data-to-analytics disconnect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108192" y="4187952"/>
            <a:ext cx="347472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6B8"/>
                </a:solidFill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92240" y="4187952"/>
            <a:ext cx="5120640" cy="585216"/>
          </a:xfrm>
          <a:prstGeom prst="roundRect">
            <a:avLst>
              <a:gd name="adj" fmla="val 9375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4187952"/>
            <a:ext cx="46634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 analytics + reports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48640" y="4828032"/>
            <a:ext cx="5532120" cy="585216"/>
          </a:xfrm>
          <a:prstGeom prst="roundRect">
            <a:avLst>
              <a:gd name="adj" fmla="val 9375"/>
            </a:avLst>
          </a:prstGeom>
          <a:solidFill>
            <a:srgbClr val="FFE4EA"/>
          </a:solidFill>
          <a:ln w="15875">
            <a:solidFill>
              <a:srgbClr val="DB277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4828032"/>
            <a:ext cx="64008" cy="585216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47" name="Text 45"/>
          <p:cNvSpPr/>
          <p:nvPr/>
        </p:nvSpPr>
        <p:spPr>
          <a:xfrm>
            <a:off x="777240" y="4828032"/>
            <a:ext cx="9144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691640" y="4828032"/>
            <a:ext cx="42062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System-level integration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108192" y="4828032"/>
            <a:ext cx="347472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6B8"/>
                </a:solidFill>
              </a:rPr>
              <a:t>→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92240" y="4828032"/>
            <a:ext cx="5120640" cy="585216"/>
          </a:xfrm>
          <a:prstGeom prst="roundRect">
            <a:avLst>
              <a:gd name="adj" fmla="val 9375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4828032"/>
            <a:ext cx="46634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+ APIs + Security + Analytics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548640" y="5468112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BFDFE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468112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CONTRIBUTION  ·  Architectural and system-level integration of established technologies.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502920" y="6355080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Smart Healthcare Data Exchange and Analytics Ecosystem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15</a:t>
            </a:r>
            <a:endParaRPr lang="en-US" sz="1100" dirty="0"/>
          </a:p>
        </p:txBody>
      </p:sp>
      <p:pic>
        <p:nvPicPr>
          <p:cNvPr id="60" name="Picture 59"/>
          <p:cNvPicPr/>
          <p:nvPr/>
        </p:nvPicPr>
        <p:blipFill>
          <a:blip r:embed="rId1"/>
          <a:srcRect b="36513"/>
          <a:stretch>
            <a:fillRect/>
          </a:stretch>
        </p:blipFill>
        <p:spPr>
          <a:xfrm>
            <a:off x="9610725" y="0"/>
            <a:ext cx="2580640" cy="7861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11430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55448" cy="114300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4" name="Shape 2"/>
          <p:cNvSpPr/>
          <p:nvPr/>
        </p:nvSpPr>
        <p:spPr>
          <a:xfrm>
            <a:off x="0" y="2286000"/>
            <a:ext cx="155448" cy="1143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5" name="Shape 3"/>
          <p:cNvSpPr/>
          <p:nvPr/>
        </p:nvSpPr>
        <p:spPr>
          <a:xfrm>
            <a:off x="0" y="3429000"/>
            <a:ext cx="155448" cy="1143000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6" name="Shape 4"/>
          <p:cNvSpPr/>
          <p:nvPr/>
        </p:nvSpPr>
        <p:spPr>
          <a:xfrm>
            <a:off x="0" y="4572000"/>
            <a:ext cx="155448" cy="1143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7" name="Shape 5"/>
          <p:cNvSpPr/>
          <p:nvPr/>
        </p:nvSpPr>
        <p:spPr>
          <a:xfrm>
            <a:off x="0" y="5715000"/>
            <a:ext cx="155448" cy="1143000"/>
          </a:xfrm>
          <a:prstGeom prst="rect">
            <a:avLst/>
          </a:prstGeom>
          <a:solidFill>
            <a:srgbClr val="4D7C0F"/>
          </a:solidFill>
        </p:spPr>
      </p:sp>
      <p:sp>
        <p:nvSpPr>
          <p:cNvPr id="8" name="Shape 6"/>
          <p:cNvSpPr/>
          <p:nvPr/>
        </p:nvSpPr>
        <p:spPr>
          <a:xfrm>
            <a:off x="155448" y="0"/>
            <a:ext cx="45720" cy="6858000"/>
          </a:xfrm>
          <a:prstGeom prst="rect">
            <a:avLst/>
          </a:prstGeom>
          <a:solidFill>
            <a:srgbClr val="E6EDF3"/>
          </a:solidFill>
        </p:spPr>
      </p:sp>
      <p:sp>
        <p:nvSpPr>
          <p:cNvPr id="9" name="Shape 7"/>
          <p:cNvSpPr/>
          <p:nvPr/>
        </p:nvSpPr>
        <p:spPr>
          <a:xfrm>
            <a:off x="9052560" y="-1965960"/>
            <a:ext cx="4754880" cy="3931920"/>
          </a:xfrm>
          <a:prstGeom prst="ellipse">
            <a:avLst/>
          </a:prstGeom>
          <a:solidFill>
            <a:srgbClr val="0D9488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0149840" y="-1371600"/>
            <a:ext cx="2743200" cy="2377440"/>
          </a:xfrm>
          <a:prstGeom prst="ellipse">
            <a:avLst/>
          </a:prstGeom>
          <a:solidFill>
            <a:srgbClr val="0D9488">
              <a:alpha val="1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48640" y="329184"/>
            <a:ext cx="2162556" cy="384048"/>
          </a:xfrm>
          <a:prstGeom prst="roundRect">
            <a:avLst>
              <a:gd name="adj" fmla="val 50000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"/>
            <a:ext cx="216255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786384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Proposed System Architecture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66928" y="1353312"/>
            <a:ext cx="7315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Data Exchange → Storage → Analytics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178308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5875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78308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51176" y="178308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51176" y="178308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53712" y="178308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5875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178308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56248" y="178308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178308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2249424"/>
            <a:ext cx="548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2450592"/>
            <a:ext cx="786384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5875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450592"/>
            <a:ext cx="7498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APPLICATION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206240" y="2926080"/>
            <a:ext cx="548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FFE4EA"/>
          </a:solidFill>
          <a:ln w="15875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108960"/>
            <a:ext cx="7498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+ ROLE-BASED ACCESS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206240" y="3639312"/>
            <a:ext cx="548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822192"/>
            <a:ext cx="7863840" cy="457200"/>
          </a:xfrm>
          <a:prstGeom prst="roundRect">
            <a:avLst>
              <a:gd name="adj" fmla="val 12000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822192"/>
            <a:ext cx="7498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 LAYER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206240" y="4297680"/>
            <a:ext cx="548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480560"/>
            <a:ext cx="7863840" cy="45720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5875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480560"/>
            <a:ext cx="7498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LOGIC + VALIDATION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206240" y="4956048"/>
            <a:ext cx="548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5120640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120640"/>
            <a:ext cx="3474720" cy="34015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31520" y="5432450"/>
            <a:ext cx="3474720" cy="2381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Data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0" y="5120640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5120640"/>
            <a:ext cx="3474720" cy="34015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754880" y="5432450"/>
            <a:ext cx="3474720" cy="2381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Flexible Documents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76072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613648" y="178308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9050">
            <a:solidFill>
              <a:srgbClr val="4D7C0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13648" y="1783080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D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ENGINE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848088" y="2313432"/>
            <a:ext cx="548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613648" y="2496312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05088" y="2496312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TRENDS · STATISTICS · REPORTS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848088" y="3026664"/>
            <a:ext cx="548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613648" y="3209544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13648" y="3209544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SUPPORT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613648" y="3931920"/>
            <a:ext cx="3017520" cy="2103120"/>
          </a:xfrm>
          <a:prstGeom prst="roundRect">
            <a:avLst>
              <a:gd name="adj" fmla="val 3478"/>
            </a:avLst>
          </a:prstGeom>
          <a:solidFill>
            <a:srgbClr val="FBFD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14816" y="4041648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MODULES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814816" y="4370832"/>
            <a:ext cx="2697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Patient &amp; Doctor Management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814816" y="4681728"/>
            <a:ext cx="2697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Appointments &amp; Records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814816" y="4992624"/>
            <a:ext cx="2697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REST APIs &amp; Authentication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814816" y="5303520"/>
            <a:ext cx="2697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Healthcare Analytics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814816" y="5614416"/>
            <a:ext cx="2697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Testing &amp; Deployment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2920" y="6355080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Smart Healthcare Data Exchange and Analytics Ecosystem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15</a:t>
            </a:r>
            <a:endParaRPr lang="en-US" sz="1100" dirty="0"/>
          </a:p>
        </p:txBody>
      </p:sp>
      <p:pic>
        <p:nvPicPr>
          <p:cNvPr id="60" name="Picture 59"/>
          <p:cNvPicPr/>
          <p:nvPr/>
        </p:nvPicPr>
        <p:blipFill>
          <a:blip r:embed="rId1"/>
          <a:srcRect b="36513"/>
          <a:stretch>
            <a:fillRect/>
          </a:stretch>
        </p:blipFill>
        <p:spPr>
          <a:xfrm>
            <a:off x="9610725" y="0"/>
            <a:ext cx="2580640" cy="7861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11430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55448" cy="114300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4" name="Shape 2"/>
          <p:cNvSpPr/>
          <p:nvPr/>
        </p:nvSpPr>
        <p:spPr>
          <a:xfrm>
            <a:off x="0" y="2286000"/>
            <a:ext cx="155448" cy="1143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5" name="Shape 3"/>
          <p:cNvSpPr/>
          <p:nvPr/>
        </p:nvSpPr>
        <p:spPr>
          <a:xfrm>
            <a:off x="0" y="3429000"/>
            <a:ext cx="155448" cy="1143000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6" name="Shape 4"/>
          <p:cNvSpPr/>
          <p:nvPr/>
        </p:nvSpPr>
        <p:spPr>
          <a:xfrm>
            <a:off x="0" y="4572000"/>
            <a:ext cx="155448" cy="1143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7" name="Shape 5"/>
          <p:cNvSpPr/>
          <p:nvPr/>
        </p:nvSpPr>
        <p:spPr>
          <a:xfrm>
            <a:off x="0" y="5715000"/>
            <a:ext cx="155448" cy="1143000"/>
          </a:xfrm>
          <a:prstGeom prst="rect">
            <a:avLst/>
          </a:prstGeom>
          <a:solidFill>
            <a:srgbClr val="4D7C0F"/>
          </a:solidFill>
        </p:spPr>
      </p:sp>
      <p:sp>
        <p:nvSpPr>
          <p:cNvPr id="8" name="Shape 6"/>
          <p:cNvSpPr/>
          <p:nvPr/>
        </p:nvSpPr>
        <p:spPr>
          <a:xfrm>
            <a:off x="155448" y="0"/>
            <a:ext cx="45720" cy="6858000"/>
          </a:xfrm>
          <a:prstGeom prst="rect">
            <a:avLst/>
          </a:prstGeom>
          <a:solidFill>
            <a:srgbClr val="E6EDF3"/>
          </a:solidFill>
        </p:spPr>
      </p:sp>
      <p:sp>
        <p:nvSpPr>
          <p:cNvPr id="9" name="Shape 7"/>
          <p:cNvSpPr/>
          <p:nvPr/>
        </p:nvSpPr>
        <p:spPr>
          <a:xfrm>
            <a:off x="9052560" y="-1965960"/>
            <a:ext cx="4754880" cy="3931920"/>
          </a:xfrm>
          <a:prstGeom prst="ellipse">
            <a:avLst/>
          </a:prstGeom>
          <a:solidFill>
            <a:srgbClr val="0D9488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0149840" y="-1371600"/>
            <a:ext cx="2743200" cy="2377440"/>
          </a:xfrm>
          <a:prstGeom prst="ellipse">
            <a:avLst/>
          </a:prstGeom>
          <a:solidFill>
            <a:srgbClr val="0D9488">
              <a:alpha val="1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48640" y="329184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D6FBF3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"/>
            <a:ext cx="179222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BIBLIOGRAPHY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786384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Selected References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548640" y="1536192"/>
            <a:ext cx="45720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5" name="Text 13"/>
          <p:cNvSpPr/>
          <p:nvPr/>
        </p:nvSpPr>
        <p:spPr>
          <a:xfrm>
            <a:off x="713232" y="1481328"/>
            <a:ext cx="45720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25296" y="1481328"/>
            <a:ext cx="103784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Torab-Miandoab, A., Samad-Soltani, T., Jodati, A., &amp; Rezaei-Hachesu, P. (2023). Interoperability of heterogeneous health information systems: A systematic literature review. BMC Medical Informatics and Decision Making.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194560"/>
            <a:ext cx="45720" cy="502920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18" name="Text 16"/>
          <p:cNvSpPr/>
          <p:nvPr/>
        </p:nvSpPr>
        <p:spPr>
          <a:xfrm>
            <a:off x="713232" y="2139696"/>
            <a:ext cx="45720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25296" y="2139696"/>
            <a:ext cx="103784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Ayaz, M., Pasha, M. F., Alzahrani, M. Y., Budiarto, R., &amp; Stiawan, D. (2021). The Fast Health Interoperability Resources (FHIR) standard: Systematic literature review. JMIR Medical Informatics.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2852928"/>
            <a:ext cx="45720" cy="50292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21" name="Text 19"/>
          <p:cNvSpPr/>
          <p:nvPr/>
        </p:nvSpPr>
        <p:spPr>
          <a:xfrm>
            <a:off x="713232" y="2798064"/>
            <a:ext cx="45720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25296" y="2798064"/>
            <a:ext cx="103784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Gamal, A., Barakat, S., &amp; Rezk, A. (2021). Standardized electronic health record data modeling and persistence: A comparative review. Journal of Biomedical Informatics.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511296"/>
            <a:ext cx="45720" cy="50292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24" name="Text 22"/>
          <p:cNvSpPr/>
          <p:nvPr/>
        </p:nvSpPr>
        <p:spPr>
          <a:xfrm>
            <a:off x="713232" y="3456432"/>
            <a:ext cx="45720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25296" y="3456432"/>
            <a:ext cx="103784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Rajkomar, A., Oren, E., Chen, K., et al. (2018). Scalable and accurate deep learning with electronic health records. npj Digital Medicine.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169664"/>
            <a:ext cx="45720" cy="502920"/>
          </a:xfrm>
          <a:prstGeom prst="rect">
            <a:avLst/>
          </a:prstGeom>
          <a:solidFill>
            <a:srgbClr val="4D7C0F"/>
          </a:solidFill>
        </p:spPr>
      </p:sp>
      <p:sp>
        <p:nvSpPr>
          <p:cNvPr id="27" name="Text 25"/>
          <p:cNvSpPr/>
          <p:nvPr/>
        </p:nvSpPr>
        <p:spPr>
          <a:xfrm>
            <a:off x="713232" y="4114800"/>
            <a:ext cx="45720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25296" y="4114800"/>
            <a:ext cx="103784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Miotto, R., Wang, F., Wang, S., Jiang, X., &amp; Dudley, J. T. (2018). Deep learning for healthcare: Review, opportunities and challenges. Briefings in Bioinformatics.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828032"/>
            <a:ext cx="45720" cy="502920"/>
          </a:xfrm>
          <a:prstGeom prst="rect">
            <a:avLst/>
          </a:prstGeom>
          <a:solidFill>
            <a:srgbClr val="DB2777"/>
          </a:solidFill>
        </p:spPr>
      </p:sp>
      <p:sp>
        <p:nvSpPr>
          <p:cNvPr id="30" name="Text 28"/>
          <p:cNvSpPr/>
          <p:nvPr/>
        </p:nvSpPr>
        <p:spPr>
          <a:xfrm>
            <a:off x="713232" y="4773168"/>
            <a:ext cx="45720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25296" y="4773168"/>
            <a:ext cx="103784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Fernández-Alemán, J. L., Señor, I. C., Lozoya, P. Á. O., &amp; Toval, A. (2013). Security and privacy in electronic health records: A systematic literature review. Journal of Biomedical Informatics.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486400"/>
            <a:ext cx="45720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3" name="Text 31"/>
          <p:cNvSpPr/>
          <p:nvPr/>
        </p:nvSpPr>
        <p:spPr>
          <a:xfrm>
            <a:off x="713232" y="5431536"/>
            <a:ext cx="45720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25296" y="5431536"/>
            <a:ext cx="103784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Kruse, C. S., Frederick, B., Jacobson, T., &amp; Monticone, D. K. (2017). Cybersecurity in healthcare: A systematic review of modern threats and trends. Technology and Health Care.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59436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Journal/venue details listed as published; DOI numbers intentionally omitted.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355080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Smart Healthcare Data Exchange and Analytics Ecosystem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/ 15</a:t>
            </a:r>
            <a:endParaRPr lang="en-US" sz="1100" dirty="0"/>
          </a:p>
        </p:txBody>
      </p:sp>
      <p:pic>
        <p:nvPicPr>
          <p:cNvPr id="60" name="Picture 59"/>
          <p:cNvPicPr/>
          <p:nvPr/>
        </p:nvPicPr>
        <p:blipFill>
          <a:blip r:embed="rId1"/>
          <a:srcRect b="36513"/>
          <a:stretch>
            <a:fillRect/>
          </a:stretch>
        </p:blipFill>
        <p:spPr>
          <a:xfrm>
            <a:off x="9610725" y="0"/>
            <a:ext cx="2580640" cy="7861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8059</Words>
  <Application>WPS Presentation</Application>
  <PresentationFormat>On-screen Show (16:9)</PresentationFormat>
  <Paragraphs>605</Paragraphs>
  <Slides>13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Georgia</vt:lpstr>
      <vt:lpstr>Georgia</vt:lpstr>
      <vt:lpstr>Georgia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Smart Healthcare Data Exchange and Analytics Ecosystem</dc:title>
  <dc:creator>K L University, Hyderabad</dc:creator>
  <dc:subject>PptxGenJS Presentation</dc:subject>
  <cp:lastModifiedBy>sridh</cp:lastModifiedBy>
  <cp:revision>5</cp:revision>
  <dcterms:created xsi:type="dcterms:W3CDTF">2026-08-17T18:03:00Z</dcterms:created>
  <dcterms:modified xsi:type="dcterms:W3CDTF">2026-08-18T05:10:45Z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A7138BDEA9F14160BC383BFB04CB55BE_12</vt:lpwstr>
  </property>
</Properties>
</file>